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50040454104bb4" /><Relationship Type="http://schemas.openxmlformats.org/officeDocument/2006/relationships/extended-properties" Target="/docProps/app.xml" Id="Reb4580116df14d31" /><Relationship Type="http://schemas.openxmlformats.org/officeDocument/2006/relationships/officeDocument" Target="/ppt/presentation.xml" Id="Rd0c7a2a255d842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ff8d72da744d3a"/>
  </p:sldMasterIdLst>
  <p:notesMasterIdLst>
    <p:notesMasterId xmlns:r="http://schemas.openxmlformats.org/officeDocument/2006/relationships" r:id="R13a7801548934988"/>
  </p:notesMasterIdLst>
  <p:sldIdLst>
    <p:sldId xmlns:r="http://schemas.openxmlformats.org/officeDocument/2006/relationships" id="256" r:id="R235b08dbf2924d35"/>
    <p:sldId xmlns:r="http://schemas.openxmlformats.org/officeDocument/2006/relationships" id="257" r:id="Rb4024133978241bc"/>
    <p:sldId xmlns:r="http://schemas.openxmlformats.org/officeDocument/2006/relationships" id="258" r:id="R0f81767d8ffd4a2a"/>
    <p:sldId xmlns:r="http://schemas.openxmlformats.org/officeDocument/2006/relationships" id="259" r:id="R24e705474138474a"/>
    <p:sldId xmlns:r="http://schemas.openxmlformats.org/officeDocument/2006/relationships" id="260" r:id="R446b6f2d71584776"/>
    <p:sldId xmlns:r="http://schemas.openxmlformats.org/officeDocument/2006/relationships" id="261" r:id="R2711409cc1424594"/>
    <p:sldId xmlns:r="http://schemas.openxmlformats.org/officeDocument/2006/relationships" id="262" r:id="R022fcd24eec94926"/>
    <p:sldId xmlns:r="http://schemas.openxmlformats.org/officeDocument/2006/relationships" id="263" r:id="Rc4d61af9826744af"/>
    <p:sldId xmlns:r="http://schemas.openxmlformats.org/officeDocument/2006/relationships" id="264" r:id="R6492b61511d94565"/>
    <p:sldId xmlns:r="http://schemas.openxmlformats.org/officeDocument/2006/relationships" id="265" r:id="R60db07bfb16143c8"/>
    <p:sldId xmlns:r="http://schemas.openxmlformats.org/officeDocument/2006/relationships" id="266" r:id="R12323fc582074119"/>
    <p:sldId xmlns:r="http://schemas.openxmlformats.org/officeDocument/2006/relationships" id="267" r:id="Reb0ba5ea1fd942e9"/>
    <p:sldId xmlns:r="http://schemas.openxmlformats.org/officeDocument/2006/relationships" id="268" r:id="R2418ad0cc29a45fc"/>
    <p:sldId xmlns:r="http://schemas.openxmlformats.org/officeDocument/2006/relationships" id="269" r:id="R3042e5c007d84ed2"/>
    <p:sldId xmlns:r="http://schemas.openxmlformats.org/officeDocument/2006/relationships" id="270" r:id="Rc7045b1ffa944df9"/>
    <p:sldId xmlns:r="http://schemas.openxmlformats.org/officeDocument/2006/relationships" id="271" r:id="R7d94dd6e5b7145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a482e6481148eb" /><Relationship Type="http://schemas.openxmlformats.org/officeDocument/2006/relationships/slideMaster" Target="/ppt/slideMasters/slideMaster1.xml" Id="Rafff8d72da744d3a" /><Relationship Type="http://schemas.openxmlformats.org/officeDocument/2006/relationships/notesMaster" Target="/ppt/notesMasters/notesMaster1.xml" Id="R13a7801548934988" /><Relationship Type="http://schemas.openxmlformats.org/officeDocument/2006/relationships/presProps" Target="/ppt/presProps.xml" Id="R246e5fa8f3d44023" /><Relationship Type="http://schemas.openxmlformats.org/officeDocument/2006/relationships/viewProps" Target="/ppt/viewProps.xml" Id="R32264596ffea44b3" /><Relationship Type="http://schemas.openxmlformats.org/officeDocument/2006/relationships/tableStyles" Target="/ppt/tableStyles.xml" Id="R9d56ae184ce7487b" /><Relationship Type="http://schemas.openxmlformats.org/officeDocument/2006/relationships/slide" Target="/ppt/slides/slide1.xml" Id="R235b08dbf2924d35" /><Relationship Type="http://schemas.openxmlformats.org/officeDocument/2006/relationships/slide" Target="/ppt/slides/slide2.xml" Id="Rb4024133978241bc" /><Relationship Type="http://schemas.openxmlformats.org/officeDocument/2006/relationships/slide" Target="/ppt/slides/slide3.xml" Id="R0f81767d8ffd4a2a" /><Relationship Type="http://schemas.openxmlformats.org/officeDocument/2006/relationships/slide" Target="/ppt/slides/slide4.xml" Id="R24e705474138474a" /><Relationship Type="http://schemas.openxmlformats.org/officeDocument/2006/relationships/slide" Target="/ppt/slides/slide5.xml" Id="R446b6f2d71584776" /><Relationship Type="http://schemas.openxmlformats.org/officeDocument/2006/relationships/slide" Target="/ppt/slides/slide6.xml" Id="R2711409cc1424594" /><Relationship Type="http://schemas.openxmlformats.org/officeDocument/2006/relationships/slide" Target="/ppt/slides/slide7.xml" Id="R022fcd24eec94926" /><Relationship Type="http://schemas.openxmlformats.org/officeDocument/2006/relationships/slide" Target="/ppt/slides/slide8.xml" Id="Rc4d61af9826744af" /><Relationship Type="http://schemas.openxmlformats.org/officeDocument/2006/relationships/slide" Target="/ppt/slides/slide9.xml" Id="R6492b61511d94565" /><Relationship Type="http://schemas.openxmlformats.org/officeDocument/2006/relationships/slide" Target="/ppt/slides/slide10.xml" Id="R60db07bfb16143c8" /><Relationship Type="http://schemas.openxmlformats.org/officeDocument/2006/relationships/slide" Target="/ppt/slides/slide11.xml" Id="R12323fc582074119" /><Relationship Type="http://schemas.openxmlformats.org/officeDocument/2006/relationships/slide" Target="/ppt/slides/slide12.xml" Id="Reb0ba5ea1fd942e9" /><Relationship Type="http://schemas.openxmlformats.org/officeDocument/2006/relationships/slide" Target="/ppt/slides/slide13.xml" Id="R2418ad0cc29a45fc" /><Relationship Type="http://schemas.openxmlformats.org/officeDocument/2006/relationships/slide" Target="/ppt/slides/slide14.xml" Id="R3042e5c007d84ed2" /><Relationship Type="http://schemas.openxmlformats.org/officeDocument/2006/relationships/slide" Target="/ppt/slides/slide15.xml" Id="Rc7045b1ffa944df9" /><Relationship Type="http://schemas.openxmlformats.org/officeDocument/2006/relationships/slide" Target="/ppt/slides/slide16.xml" Id="R7d94dd6e5b7145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ceb822eb224f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a99963350146b0" /><Relationship Type="http://schemas.openxmlformats.org/officeDocument/2006/relationships/notesMaster" Target="/ppt/notesMasters/notesMaster1.xml" Id="R61d30ef78fb645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bd7ba2a65a47fc" /><Relationship Type="http://schemas.openxmlformats.org/officeDocument/2006/relationships/notesMaster" Target="/ppt/notesMasters/notesMaster1.xml" Id="Racf972dddab445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f5874c41ea448c" /><Relationship Type="http://schemas.openxmlformats.org/officeDocument/2006/relationships/notesMaster" Target="/ppt/notesMasters/notesMaster1.xml" Id="Ra8fa31905d3649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c3f27875e940d2" /><Relationship Type="http://schemas.openxmlformats.org/officeDocument/2006/relationships/notesMaster" Target="/ppt/notesMasters/notesMaster1.xml" Id="R0c3bdcf8040740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12abdcb79145e6" /><Relationship Type="http://schemas.openxmlformats.org/officeDocument/2006/relationships/notesMaster" Target="/ppt/notesMasters/notesMaster1.xml" Id="Rec1fe842731942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a0b2a8c9d046fe" /><Relationship Type="http://schemas.openxmlformats.org/officeDocument/2006/relationships/notesMaster" Target="/ppt/notesMasters/notesMaster1.xml" Id="R534f5ae8a8ec4e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da2794547f4a28" /><Relationship Type="http://schemas.openxmlformats.org/officeDocument/2006/relationships/notesMaster" Target="/ppt/notesMasters/notesMaster1.xml" Id="Re1ca223572474a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d61e9bd8fd4483" /><Relationship Type="http://schemas.openxmlformats.org/officeDocument/2006/relationships/notesMaster" Target="/ppt/notesMasters/notesMaster1.xml" Id="R95f8f9370c874f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d0b34e89cb4ea5" /><Relationship Type="http://schemas.openxmlformats.org/officeDocument/2006/relationships/notesMaster" Target="/ppt/notesMasters/notesMaster1.xml" Id="Rd56114663b444c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fc398e1819485d" /><Relationship Type="http://schemas.openxmlformats.org/officeDocument/2006/relationships/notesMaster" Target="/ppt/notesMasters/notesMaster1.xml" Id="Re24ef0d4ea4541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8b3f04424ac4354" /><Relationship Type="http://schemas.openxmlformats.org/officeDocument/2006/relationships/notesMaster" Target="/ppt/notesMasters/notesMaster1.xml" Id="R038de26e785049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bb766ec89f4ffc" /><Relationship Type="http://schemas.openxmlformats.org/officeDocument/2006/relationships/notesMaster" Target="/ppt/notesMasters/notesMaster1.xml" Id="R8b0dbaa792a94e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870f2f5533c4ac5" /><Relationship Type="http://schemas.openxmlformats.org/officeDocument/2006/relationships/notesMaster" Target="/ppt/notesMasters/notesMaster1.xml" Id="Re3e62a22656a40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ed97f3e8a324522" /><Relationship Type="http://schemas.openxmlformats.org/officeDocument/2006/relationships/notesMaster" Target="/ppt/notesMasters/notesMaster1.xml" Id="Rdc2b7e12c37641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78dc11d7db4023" /><Relationship Type="http://schemas.openxmlformats.org/officeDocument/2006/relationships/notesMaster" Target="/ppt/notesMasters/notesMaster1.xml" Id="R1b567ce231f54e3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3f31e5699414548" /><Relationship Type="http://schemas.openxmlformats.org/officeDocument/2006/relationships/notesMaster" Target="/ppt/notesMasters/notesMaster1.xml" Id="Rff32a632d28c49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Final major project report title page and project details.</a:t>
            </a:r>
          </a:p>
          <a:p xmlns:a="http://schemas.openxmlformats.org/drawingml/2006/main">
            <a:r>
              <a:t>Opening focus: the project is presented as an AI architecture project, not only a Unity gameplay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final report front matter, proposal, and interim report. This slide establishes the formal project identity and the AI-first goal.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proposal and final report problem statement. This slide frames why the architecture had to move beyond simple nearest-target scripts.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final report architecture and observed playtest problems. The comparison summarizes what was wrong and how the project resolves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final report system design and implementation modules. Diagram shows the runtime data flow and support systems.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final report methodology and implementation notes. This explains how the bot chooses a stable action during gameplay.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implementation of AIGameModeMacroStrategy and recent playtest fixes. Modes produce macro calls that guide lower-level tactics.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final report brawler-specific intelligence section and implemented brawler tactical identity packs.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AIMapNavigationUtility, NavigationAgent, movement liveness watchdog, and playtest fixes for obstacle stalls.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ability intelligence packs, predictive combat utilities, shot obstacle checks, and brawler definitions.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user-provided gameplay screenshot. Shows the gem mine area, countdown state, and objective-driven combat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user-provided screenshots plus latest gameplay fix. Both issues were converted into system-level corrections.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user-provided scene/debug screenshots. Debug overlays expose the exact reason a bot is moving, fighting, retreating, or recovering.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user-provided brawler select and match result screenshots. These screens support tuning, validation, and game-mode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local C# implementation. These snippets document how reported issues were fixed at the system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final report testing, result, conclusion, and future work sections. This closing slide summarizes the project outcome and next direction.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9f9d5f3be244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b9e3ddf3c4e9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8facf1c3734e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c0b46fe64449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2c83cf3f1344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48a05060694a4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d8ac485a54fe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ae6afec282429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f7187456d643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e185b3cb9b456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deb015ca0c499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1886FF-50EF-26D1-014C-A4FF81038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9E6BD5D-0562-8BD1-A1D4-25B42A60A6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608C7E-621D-2F04-B447-78F1923E86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9BD8C2-863F-4EB6-AE52-E3B5A3659E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CA19150-7D27-C4B3-F0A3-258DC5BDCE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9ED1D8-0802-E8DF-416E-84009B6FB3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2AA8CC9-A71A-4222-20FF-4064D05E0A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C26222-DB58-8AFB-21C1-FFB421D8BD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471D06-3CBF-55D5-8C66-37A4314C26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08A28C-E968-C293-27C4-BBBCC41065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131274-40E9-D07C-BB25-571C3BEFEB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1CEC77-F569-66EA-BB1F-8E2C312AAE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20AF4EC-E500-4BB7-7EF6-EC8E56AF50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74E818-726B-AF16-991A-AC92EC251A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88B668-0E60-3B95-6B55-09106B98AC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C40B08-9D0A-2463-A72A-FD6895413F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235F49-6698-F304-990D-04083CDE904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D8D5BFF-10BB-6CE3-3464-9CEA9FECC1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863B4E1-2C12-9746-714D-27964FFD87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5C2D65C-506A-326D-2D0B-24AC69C347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0B695DD-6688-6E05-46E0-EF0DB94B43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B5ABFF-85EE-5A81-0E02-4917AE36D4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1BC0E26-FA6F-DE25-FB0E-1FA9443E59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7D72099-6E55-F0E3-B2C9-89F95A4D8E5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33177BA-7787-0CB4-447E-F61ECD0B455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EB96AD6-5967-FEBA-7484-50654B48F21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A792607-D84A-8E54-B756-5CD39BE8EE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35A66BA-148C-348B-77BC-72B1E49068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81FAECB-ED4B-0A25-3D8D-AADB56ECBC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44B66C-82D1-9F3A-64B5-D8E94F0493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9588224-5655-1B9B-0928-167EBDACAF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36CE72F-683D-660F-0514-FDF3CAA0AB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BE9DB28-F3D9-D51F-60D7-2E1A2293B0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6137314-12E0-6E29-5F16-428C50A75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5BA3495-45A3-BF5E-CE36-42EAE62353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9B6C081-2B86-4E00-3E7C-6B19B56FE2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CDBBBF-0DCB-B95E-FEA2-45408AC2C6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11191C6-9E4D-77BB-8581-2B903C31CB5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87A0F94-B667-4946-4DA9-EB733EB84A2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588FAF2-7C87-70B2-0DB6-C3CBC68B4D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6D199B2-D637-D9E3-5700-DCFA586A02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DEE8D78-012E-33A5-5E6F-52EC63367C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1DF9C-0AF4-4734-BE32-818E83C4FA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044AF9A-3609-8798-4BA7-52C52A55D15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096A7C2-6EB2-3F47-69CB-5A97600DDF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5730E87-C34C-36A8-C00F-72BA0E3BB5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20B8233-CEFE-5AF6-7BE1-68A868EC73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881CAD8-680A-B793-E09D-0606B1E007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537C2C-4E32-A630-F3FA-5D07900A25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190121-2DDA-A67A-129B-E161805CC6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BE6F59-B350-6B0F-1CAE-0E63319326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F1655-5FB1-FDB8-3034-344B930B59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BCD497-1238-08E8-EC44-888749ACAA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75EDB17-90A7-FCF8-207C-A4E8EE2DE9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8E39CE3-8B91-6434-D40F-FAB8275756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50EB73-DA96-48FA-95C7-7769410F75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3CA585-E546-A2E1-E6A8-D0BCAAA9F2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255E46-F98F-2AEB-B7A9-48F958ECBD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37c1c41d17455f" /><Relationship Type="http://schemas.openxmlformats.org/officeDocument/2006/relationships/slideLayout" Target="/ppt/slideLayouts/slideLayout1.xml" Id="Rc5bd23d226f54566" /><Relationship Type="http://schemas.openxmlformats.org/officeDocument/2006/relationships/slideLayout" Target="/ppt/slideLayouts/slideLayout2.xml" Id="R3db3d5a23f6244aa" /><Relationship Type="http://schemas.openxmlformats.org/officeDocument/2006/relationships/slideLayout" Target="/ppt/slideLayouts/slideLayout3.xml" Id="R04eb879371c04478" /><Relationship Type="http://schemas.openxmlformats.org/officeDocument/2006/relationships/slideLayout" Target="/ppt/slideLayouts/slideLayout4.xml" Id="R3b7190f093664e7c" /><Relationship Type="http://schemas.openxmlformats.org/officeDocument/2006/relationships/slideLayout" Target="/ppt/slideLayouts/slideLayout5.xml" Id="Rfbf73033903f4c5c" /><Relationship Type="http://schemas.openxmlformats.org/officeDocument/2006/relationships/slideLayout" Target="/ppt/slideLayouts/slideLayout6.xml" Id="Rd902df21892b4f3a" /><Relationship Type="http://schemas.openxmlformats.org/officeDocument/2006/relationships/slideLayout" Target="/ppt/slideLayouts/slideLayout7.xml" Id="Rbd2021b61241413e" /><Relationship Type="http://schemas.openxmlformats.org/officeDocument/2006/relationships/slideLayout" Target="/ppt/slideLayouts/slideLayout8.xml" Id="Rfdbbd76059dc48f4" /><Relationship Type="http://schemas.openxmlformats.org/officeDocument/2006/relationships/slideLayout" Target="/ppt/slideLayouts/slideLayout9.xml" Id="R6a782617e2c04687" /><Relationship Type="http://schemas.openxmlformats.org/officeDocument/2006/relationships/slideLayout" Target="/ppt/slideLayouts/slideLayout10.xml" Id="R21e2afcfb9944b61" /><Relationship Type="http://schemas.openxmlformats.org/officeDocument/2006/relationships/slideLayout" Target="/ppt/slideLayouts/slideLayout11.xml" Id="R7a7c3936b7f0428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2F18E8F-0656-964F-DEE6-366D32B6C6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8EA5C2B-B92F-E96E-E147-AE8D0E7ED6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85C2D6-66EF-7C0E-3506-CFD8E2CDEFD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8090E8-4753-464E-51E3-02EB0323BCD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6AD4EB-9D29-D693-27C7-AF481AB6430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bd23d226f54566"/>
    <p:sldLayoutId xmlns:r="http://schemas.openxmlformats.org/officeDocument/2006/relationships" id="2147483650" r:id="R3db3d5a23f6244aa"/>
    <p:sldLayoutId xmlns:r="http://schemas.openxmlformats.org/officeDocument/2006/relationships" id="2147483651" r:id="R04eb879371c04478"/>
    <p:sldLayoutId xmlns:r="http://schemas.openxmlformats.org/officeDocument/2006/relationships" id="2147483652" r:id="R3b7190f093664e7c"/>
    <p:sldLayoutId xmlns:r="http://schemas.openxmlformats.org/officeDocument/2006/relationships" id="2147483653" r:id="Rfbf73033903f4c5c"/>
    <p:sldLayoutId xmlns:r="http://schemas.openxmlformats.org/officeDocument/2006/relationships" id="2147483654" r:id="Rd902df21892b4f3a"/>
    <p:sldLayoutId xmlns:r="http://schemas.openxmlformats.org/officeDocument/2006/relationships" id="2147483655" r:id="Rbd2021b61241413e"/>
    <p:sldLayoutId xmlns:r="http://schemas.openxmlformats.org/officeDocument/2006/relationships" id="2147483656" r:id="Rfdbbd76059dc48f4"/>
    <p:sldLayoutId xmlns:r="http://schemas.openxmlformats.org/officeDocument/2006/relationships" id="2147483657" r:id="R6a782617e2c04687"/>
    <p:sldLayoutId xmlns:r="http://schemas.openxmlformats.org/officeDocument/2006/relationships" id="2147483658" r:id="R21e2afcfb9944b61"/>
    <p:sldLayoutId xmlns:r="http://schemas.openxmlformats.org/officeDocument/2006/relationships" id="2147483659" r:id="R7a7c3936b7f0428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42f4417634db2" /><Relationship Type="http://schemas.openxmlformats.org/officeDocument/2006/relationships/notesSlide" Target="/ppt/notesSlides/notesSlide1.xml" Id="R629beeda9c994b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441eb618f0426b" /><Relationship Type="http://schemas.openxmlformats.org/officeDocument/2006/relationships/notesSlide" Target="/ppt/notesSlides/notesSlide2.xml" Id="R8baeda6d3b604c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527c43977748d2" /><Relationship Type="http://schemas.openxmlformats.org/officeDocument/2006/relationships/notesSlide" Target="/ppt/notesSlides/notesSlide3.xml" Id="Rcdf380b8c14049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90fd7ee8914a41" /><Relationship Type="http://schemas.openxmlformats.org/officeDocument/2006/relationships/notesSlide" Target="/ppt/notesSlides/notesSlide4.xml" Id="Rc94f99e4a3334b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9d740ac6864e43" /><Relationship Type="http://schemas.openxmlformats.org/officeDocument/2006/relationships/notesSlide" Target="/ppt/notesSlides/notesSlide5.xml" Id="R10b44eaf552047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a914b8829f4651" /><Relationship Type="http://schemas.openxmlformats.org/officeDocument/2006/relationships/notesSlide" Target="/ppt/notesSlides/notesSlide6.xml" Id="Re29baa5e33e94d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349b6ec24c4eb1" /><Relationship Type="http://schemas.openxmlformats.org/officeDocument/2006/relationships/notesSlide" Target="/ppt/notesSlides/notesSlide7.xml" Id="Rf38fbb11435b49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18ec6793dc4026" /><Relationship Type="http://schemas.openxmlformats.org/officeDocument/2006/relationships/notesSlide" Target="/ppt/notesSlides/notesSlide8.xml" Id="Ra069a5e523934e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cba2ff2ca74d5a" /><Relationship Type="http://schemas.openxmlformats.org/officeDocument/2006/relationships/notesSlide" Target="/ppt/notesSlides/notesSlide9.xml" Id="Ra9244e1a37104f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5025822e2747e5" /><Relationship Type="http://schemas.openxmlformats.org/officeDocument/2006/relationships/notesSlide" Target="/ppt/notesSlides/notesSlide10.xml" Id="Rb32b7ebc0be640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ec32f1c01f4d3a" /><Relationship Type="http://schemas.openxmlformats.org/officeDocument/2006/relationships/image" Target="/ppt/media/image.png" Id="R47c6470e1e3740e8" /><Relationship Type="http://schemas.openxmlformats.org/officeDocument/2006/relationships/notesSlide" Target="/ppt/notesSlides/notesSlide11.xml" Id="Rb26c1cb3c0fb47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b0cbd8a45f470b" /><Relationship Type="http://schemas.openxmlformats.org/officeDocument/2006/relationships/image" Target="/ppt/media/image2.png" Id="R9d77fbc949524bd8" /><Relationship Type="http://schemas.openxmlformats.org/officeDocument/2006/relationships/image" Target="/ppt/media/image3.png" Id="Rcde5215379c24245" /><Relationship Type="http://schemas.openxmlformats.org/officeDocument/2006/relationships/notesSlide" Target="/ppt/notesSlides/notesSlide12.xml" Id="Rfb8ec5b62af04dd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c37240689e4677" /><Relationship Type="http://schemas.openxmlformats.org/officeDocument/2006/relationships/image" Target="/ppt/media/image4.png" Id="Rf79972f5b8b54f9c" /><Relationship Type="http://schemas.openxmlformats.org/officeDocument/2006/relationships/image" Target="/ppt/media/image5.png" Id="R0815cf070e48412e" /><Relationship Type="http://schemas.openxmlformats.org/officeDocument/2006/relationships/notesSlide" Target="/ppt/notesSlides/notesSlide13.xml" Id="Ra84f6c0d09bf475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85151559654625" /><Relationship Type="http://schemas.openxmlformats.org/officeDocument/2006/relationships/image" Target="/ppt/media/image6.png" Id="R6b1b38902bd84bb9" /><Relationship Type="http://schemas.openxmlformats.org/officeDocument/2006/relationships/image" Target="/ppt/media/image7.png" Id="Rd77c4e2308ea4421" /><Relationship Type="http://schemas.openxmlformats.org/officeDocument/2006/relationships/notesSlide" Target="/ppt/notesSlides/notesSlide14.xml" Id="Rba42dea8d02346b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4b43ef7c684b8f" /><Relationship Type="http://schemas.openxmlformats.org/officeDocument/2006/relationships/notesSlide" Target="/ppt/notesSlides/notesSlide15.xml" Id="R4ef3cd454e2047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28d2b3d534815" /><Relationship Type="http://schemas.openxmlformats.org/officeDocument/2006/relationships/notesSlide" Target="/ppt/notesSlides/notesSlide16.xml" Id="R9c4fdd9257354ef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2562B8-9932-4E96-B0BD-35B85715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D72BD-6A3D-455A-835B-90ECB35A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0"/>
            <a:ext cx="4381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2E112-BC53-42A9-996A-74C832E8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40000">
            <a:off x="7086600" y="-781050"/>
            <a:ext cx="514350" cy="83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2F2CA-0306-48EC-8260-E34CA2F4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9029700" y="914400"/>
            <a:ext cx="1619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263B58"/>
          </a:solidFill>
          <a:ln xmlns:a="http://schemas.openxmlformats.org/drawingml/2006/main" w="9525">
            <a:solidFill>
              <a:srgbClr val="FFFFFF">
                <a:alpha val="4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11431-4CFB-43D6-A391-A89A63FE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9324975" y="4524375"/>
            <a:ext cx="14478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53687-0CC4-4479-AFFC-49A1FADD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419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>
                <a:solidFill>
                  <a:srgbClr val="C01855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C01855"/>
                </a:solidFill>
                <a:latin typeface="Aptos"/>
                <a:ea typeface="Aptos"/>
                <a:cs typeface="Aptos"/>
              </a:rPr>
              <a:t>AMRITA | Online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58638-2BB5-47CE-9F4F-0C93F9FB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225" b="1">
                <a:solidFill>
                  <a:srgbClr val="C01855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C01855"/>
                </a:solidFill>
                <a:latin typeface="Aptos"/>
                <a:ea typeface="Aptos"/>
                <a:cs typeface="Aptos"/>
              </a:rPr>
              <a:t>21CSA699A - Major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E497FD-6E47-4F4F-9269-D4D9CD07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5263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263A"/>
                </a:solidFill>
                <a:latin typeface="Aptos"/>
                <a:ea typeface="Aptos"/>
                <a:cs typeface="Aptos"/>
              </a:rPr>
              <a:t>Advanced Game AI System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5263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263A"/>
                </a:solidFill>
                <a:latin typeface="Aptos"/>
                <a:ea typeface="Aptos"/>
                <a:cs typeface="Aptos"/>
              </a:rPr>
              <a:t>Using Blackboard Architecture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FD8C9-23C1-4D41-912F-FE66FD6C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Unity Engine | C# | MOBA/Brawler AI Prototype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72DD8F-F8B2-4684-B9C1-149FA485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4457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Akash Dhyani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AA.SC.U3BCA2307092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Project Guide: Deepa Sreedhar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Coordinator: Amrita Sindhu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3118370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200362-12D8-4723-BC58-77D5A7AE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12380-F16A-40EC-B297-CADC0000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90D8A-C4CB-4AA0-9C10-3EAAB5F6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ADC83-BC7F-4E76-A3E9-9AC48179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Project Identity and Development Goal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26A8A-9710-4268-B135-A3D18254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AF30F-A532-4ED1-888D-5EFE4488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0E776-20DB-4CEA-9973-DBFE639A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04825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9B57A-6C95-4BDF-8AD2-E3A059E4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7620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4E492-D95C-4424-A6F4-E556A379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Student and Submission Details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7AE7A-8A6C-4360-BF12-3002C14D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6014B-C693-43B8-BC32-BED8139F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Name: Akash Dhyani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2AED8-AD8C-4016-A84E-5BC33D4B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2CFA3A-0438-4900-98BA-516725B3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479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Register No: AA.SC.U3BCA2307092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7AA680-4E80-4112-A661-E6244988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14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E44D95-648F-45EB-8B95-C89416D3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480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Program: Bachelor of Computer Applications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B6285-1ED1-41E3-919F-4469A72C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F578DE-D833-4253-8186-68C046FA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Project Guide: Deepa Sreedhar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5847D-F4A2-4C18-9A2E-6195E5CB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51AE45-B4BF-4191-BCE8-60EDB219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Project Coordinator: Amrita Sindhu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D00D0-CDB1-4136-862C-9A96E22A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14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16416B-9979-4C36-8F65-75994D29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481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Technology: Unity Engine with C# gameplay AI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1A60C-0B9B-4FF7-80DB-6A536106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541020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13274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4587B3-6CF1-4A8B-9535-AEA42969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7620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880EEC-FF23-4270-8D55-1E75AFC8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573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Core Aim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6FB448-F9E2-4517-9C49-C1887CEC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71700"/>
            <a:ext cx="46482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7FBFF"/>
                </a:solidFill>
                <a:latin typeface="Aptos"/>
                <a:ea typeface="Aptos"/>
                <a:cs typeface="Aptos"/>
              </a:rPr>
              <a:t>To build a scalable, explainable, and game-mode-aware AI stack for a real-time brawler/MOBA prototype. The project evolved through iterative playtesting: every observed weakness became a system-level improvement rather than a one-off patch.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415F02-716E-45AB-8F65-1FC89C7C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52850"/>
            <a:ext cx="1314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D06682-369C-4C2A-A6F3-7607B40D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AAA mindset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D3CA1E-42D1-4D97-80EB-7FB94EFB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52850"/>
            <a:ext cx="1485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74A997-7BDF-4F72-9EB8-4351EB01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0047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Reusable systems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D8CF63-1E1B-436F-8665-CD0402CE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333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430765-AF7F-40B6-8C26-12BEBE60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00475"/>
            <a:ext cx="1181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Debuggable AI</a:t>
            </a:r>
          </a:p>
        </p:txBody>
      </p:sp>
    </p:spTree>
    <p:extLst>
      <p:ext uri="{BB962C8B-B14F-4D97-AF65-F5344CB8AC3E}">
        <p14:creationId xmlns:p14="http://schemas.microsoft.com/office/powerpoint/2010/main" val="22174907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52DF3E-DF9C-406C-B5F4-9C81B723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CA8DE-1D43-4708-B8EA-A47F67FD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534C9-8580-467D-B559-16984999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6B2DD-A21E-4B24-831A-BED8780A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Why Simple Game Bots Were Not Enough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53505-0ED0-4C6C-9CD6-C31BD290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8F775-DCDE-4FEB-9877-42C73AA4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81FB1-A7B9-4355-8C46-2ECACDDF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Early bot behavior looked playable in isolation, but failed when objectives, obstacles, team pressure, and brawler roles interacted.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D43B8F-B10B-493F-A72D-28D761BE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312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3D8AA-1758-4E6E-BC0D-876D3501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1566E-EBC2-442D-BBF9-1EE8AD08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384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Flicker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8E02D5-935B-45C9-A734-77D64D8D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71775"/>
            <a:ext cx="259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rapid action switching when scores were close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17164-B9C7-4F38-A4F2-A504E2C1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2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7CAC5-F26E-4453-AC1F-89A79369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83F46-F9E7-4AE4-9C5E-D7380C39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384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Clumping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5C363F-EC87-4A48-93E3-A5106DAE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71775"/>
            <a:ext cx="259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multiple allies crowding one objective or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1ED20D-AD46-4509-9D7D-60D6231D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312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FEE361-4C8E-4EBA-B514-4E86AD9D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621423-BC65-49F2-A70B-2B20A609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384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Objective neglect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BCFE9C-29A7-4AD6-92F6-0EC29F9E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71775"/>
            <a:ext cx="259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combat decisions overriding gems or ball control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96BC71-EDCE-4501-9231-FC792B7F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312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9AEE26-C7C1-420C-B3EA-402C828A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401A87-3211-4534-90AD-726FB6C8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671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Path stalls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AF5AF9-E1E4-4E15-AF40-7F6E7815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00525"/>
            <a:ext cx="259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bots stopping on boundaries or obstacles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1CFAB4-5208-4D90-9C37-76272DFA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76650"/>
            <a:ext cx="312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B706D6-9DFF-467C-8AED-295FDD08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76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8ADCE2-0CCB-4009-96A8-38DA6189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8671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Generic behavior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01E1B0-B210-4BB2-88D3-5EDD78DC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00525"/>
            <a:ext cx="259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every brawler acting like the same shooter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F60FC1-B6CC-4783-99A0-9F3ECA96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76650"/>
            <a:ext cx="3124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F73934-1E48-439B-8C8C-0CDFDF17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76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F3B711-38C5-4A06-8F4C-998CDB80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671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Low observability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C42538-F15E-454E-A6BB-FB4ACD47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00525"/>
            <a:ext cx="259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hard to prove why a bot moved or stopped</a:t>
            </a:r>
          </a:p>
        </p:txBody>
      </p:sp>
    </p:spTree>
    <p:extLst>
      <p:ext uri="{BB962C8B-B14F-4D97-AF65-F5344CB8AC3E}">
        <p14:creationId xmlns:p14="http://schemas.microsoft.com/office/powerpoint/2010/main" val="21709247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D672002-0658-44E4-B5D0-EDB4E320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BB160-79DE-4AF1-9926-B985EA16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54E0C-2F08-43E0-96E1-86695711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10AFF-F7E3-47A2-BA23-C0AA604B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Common Bot Flow vs MOBA Core AI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7BC85-E228-45F0-8565-CE5E13AD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4007C-D8B9-43B4-B65F-8DACE8E6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B03F0-8A2F-4A95-A95E-C08CAEDC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4D5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4D5F"/>
                </a:solidFill>
                <a:latin typeface="Aptos"/>
                <a:ea typeface="Aptos"/>
                <a:cs typeface="Aptos"/>
              </a:rPr>
              <a:t>Typical makeshift 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5C2AF2-67DF-4591-A903-F61878AC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3525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Our AAA-style architecture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1F0B6-3BAE-42FA-B527-7EC0B53F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857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40C15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7F329-E530-4E73-8F2F-87C6E968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AE2B6-D0EB-4FF4-98C3-62600D30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0502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Find nearest enemy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AAB4C-0E35-44E3-841D-0FCB2DF1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0955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1E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C6E6F8-BA6E-4A4C-829A-28EF5032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857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40C15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48CEDC-3952-439B-B1D4-51C00EAB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7A8309-7B5E-42B7-BB96-18FD649C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9082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Move in direct 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55765C-C384-4D05-AF7D-8D4C2D45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813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1E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751BA8-C4D4-4151-B636-E0883BA9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2857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40C15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E7F5BE-6FD7-498F-981B-5CA9B647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98833E-F213-4B1B-9EB8-10FC67F8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7662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Shoot on cooldown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03FFE-05C6-47A4-B7A2-79C67537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671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1E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5D5D0C-25BB-4DA1-8908-318A2D9D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2857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40C15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B922E-64FD-4977-B29A-37DBA740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B2B33D-619B-47BB-8CFD-276DEA1D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6242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Ignore objective 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481B43-A6C8-478B-8577-517609CB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1529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1E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F6E38C-E0D1-43AF-94FE-18365AE9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2857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40C15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04B2F8-E7BD-4F84-B9ED-FAFC815C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C7197F-30DA-4756-B15B-2B733F8D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4822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Patch every failure case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A89A1C-B016-4ACA-BF6E-3C9E33B4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3048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92013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DFAA6D-226B-4C19-8E18-ADE2992C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D67DC-BEDB-4C77-AD7F-FCA5CBB2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0502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Sense world + team state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4207B8-24CA-4D65-B0C4-4A5DE69F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0955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7558F7-89D5-42D3-A767-5FE7E4DE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67000"/>
            <a:ext cx="3048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92013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72E4AB-9698-4B1D-9065-06F5BC72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670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6875BE-CD97-49C3-90EA-D73880BE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9082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Score win-condition utility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182D43-724B-4AB1-B644-44F0F94F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813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05C413-F236-49A8-AD2D-D1C7C3E6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3048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92013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1D7CC4-80C6-43C9-93F4-D8BF4DBA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73E020-85AE-48C9-8EBE-9FF34002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7662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Commit with hysteresis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B6A84F-2F32-428C-83AF-F22110B9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671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938DD6-5BDC-4E97-98B1-EB74DA4A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38600"/>
            <a:ext cx="3048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92013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5E408F-0547-4FAD-BADB-4A6068D2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386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81CB69-E4DC-4C67-8BAA-F826BDC6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6242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Route with map safety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CA8E33-FB98-4EC3-86C0-C163C3E2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52900"/>
            <a:ext cx="4953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577666-F0E6-4DA9-9A84-E3E1EA77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24400"/>
            <a:ext cx="3048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92013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F9E8A6-0551-4662-AE95-2A1D3261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24400"/>
            <a:ext cx="7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C10B9BF-F213-4F84-94B0-AE6999C3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4822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Record debug telemetry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481D2D-CB6C-441D-A2F2-A32925B1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66950"/>
            <a:ext cx="1790700" cy="22479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8111D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A58BA7D-D9D1-41AC-AEA2-31B0FBE5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66950"/>
            <a:ext cx="76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AA98BEC-8AA1-4552-BF74-6776B005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7650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Main difference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6018E9-0D3F-4F24-911E-C8D7A2CD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914650"/>
            <a:ext cx="1295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The bot is not a script reacting to one target. It is a decision system balancing combat, objective, team, role, and survival context every tick.</a:t>
            </a:r>
          </a:p>
        </p:txBody>
      </p:sp>
    </p:spTree>
    <p:extLst>
      <p:ext uri="{BB962C8B-B14F-4D97-AF65-F5344CB8AC3E}">
        <p14:creationId xmlns:p14="http://schemas.microsoft.com/office/powerpoint/2010/main" val="16487950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17941A-FD22-4394-8894-2CD73776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0ED02-6685-4F0B-96C5-C567091A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E61CD-63B0-4FDC-B4E2-8A503043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3DF93-08EE-494C-94AF-576A36D6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Layered AI System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4BEE6-C6B4-4ACA-8F52-7C45EE1E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DE605-7F09-4CDC-B6D0-F7FD6134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81E30-A91B-4C65-97B5-3AAF91AB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1390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741125-D3DB-4EB5-AB36-6F1854E2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AEF84E-E559-4FCB-A9BC-4AC22736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022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Perception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&amp; 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C4EF3-E79E-4719-9F91-CE745AA5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76400"/>
            <a:ext cx="1390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22619-D2B8-4A72-9B3D-DCD7F758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764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3F08ED-D134-410B-B63A-ECE00612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022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Target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Scoring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48CEC-3746-4DF3-8D68-84569048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676400"/>
            <a:ext cx="1390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EFE175-5D9F-431C-B35F-41FCE61E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6764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B3D410-81BF-4B9B-A671-0C1150D7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022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Utility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Scoring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182763-9686-4301-BBB2-7A8569D2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76400"/>
            <a:ext cx="1390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C2EE21-859F-4F19-AA59-461AEDAA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764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DDDE0-1D33-45D4-AF5C-AB8F148E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0022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Commitment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Hysteresis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0ABF7C-2E25-4D84-AFF0-A18A7CCF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676400"/>
            <a:ext cx="1390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08924D-DA24-4CD8-964C-3E59EE12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6764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F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0396D1-C012-4FE2-835F-5A6C3CFC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0022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Action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Executor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0DF67-5ECA-4FDB-9842-5FBE8FE7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676400"/>
            <a:ext cx="1390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B700E9-03FB-46A1-9D18-2861218E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6764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2C37F1-41FC-45CE-A6F9-733F6A64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022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Brawler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Simulation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4B6DA3-8EE2-4AD2-AF7F-FE394E9B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050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8D6D7B-C8F7-4963-9254-527A1BA2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9050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CC0A82-1E35-4ED2-AC2A-F07244B1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9050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972A2C-2FFA-41E1-9010-E0DB7114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050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852672-F33E-4E7D-A75A-948D0013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0500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426B3F-20BF-4A96-9444-048B90B9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30099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AFD195-37C5-4085-B2B0-040EEA4C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76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B82FEC-932D-4CB9-9180-1956C2F7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86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Team Blackboard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AF2D10-42FE-4D94-BD30-C3F2D3FE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Focus counts, ally pressure, lane ownership, threat center, carrier protection, and shared playbook calls.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4F3F79-6E3E-4D71-9459-370B4D1E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30099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E546B6-4FCF-4AE1-8A74-D30D95A1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76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35D17B-16C0-4AEE-B4D2-6896FF03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86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Mode Macro Strategy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170A98-73F2-4437-955D-B7AEDCE5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9052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Gem Grab, Knockout, Brawl Ball, Solo Showdown, countdown, final pressure, push, hold, reset.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CCBD02-1CDD-4EB7-8620-B47BA6FE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19450"/>
            <a:ext cx="30099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8B69BF-940F-4055-83CC-7F079A3E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19450"/>
            <a:ext cx="76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3BF43E-BD2B-4F97-97C5-157BCD6E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86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7D3C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D3CFF"/>
                </a:solidFill>
                <a:latin typeface="Aptos"/>
                <a:ea typeface="Aptos"/>
                <a:cs typeface="Aptos"/>
              </a:rPr>
              <a:t>Validation &amp; Telemetry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0C832E-FA8B-479C-BF0F-601E2D3D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9052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Debug overlay, inspector state, report cards, incidents, outlier review, and movement liveness checks.</a:t>
            </a:r>
          </a:p>
        </p:txBody>
      </p:sp>
    </p:spTree>
    <p:extLst>
      <p:ext uri="{BB962C8B-B14F-4D97-AF65-F5344CB8AC3E}">
        <p14:creationId xmlns:p14="http://schemas.microsoft.com/office/powerpoint/2010/main" val="7307962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3D0EDC-654C-4DA6-9DE9-C27C3C78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6ADDA-C928-443F-BAD0-E1D85BF7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B54E4-FA30-4859-A983-F3B6D65A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RUNTIME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A471AA-6381-4991-84D3-393CFD7A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One AI Tick: From World State to 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92A52-9A9E-4FB9-965A-2B473EBE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28683-AA3F-42CB-8726-C2093961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A8EB04-CE52-423B-8D63-B269675F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5AAEA5-6A5D-412E-8F24-2EBED100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72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F634D-B0A5-4762-9D9E-C079459D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Sense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CDBF9E-B9CF-4809-9ED6-C2628235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095625"/>
            <a:ext cx="1828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Visible enemies, allies, gems, ball, cover, poison, obstacles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A4475-A67E-4513-AB28-1F749788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01930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A3D21-F46B-4072-AB9D-EDE332EB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621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14A92-C28C-4C24-A49B-B77EB31E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924050"/>
            <a:ext cx="72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C96F6-62B4-48F3-94A7-143F1218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051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Remember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B407E9-2451-445A-B53D-63E2D5A6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095625"/>
            <a:ext cx="1828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Target memory, recent threats, lane ownership, stuck history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A3039C-60CF-4D9D-A365-D4386C15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1930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A250EA-4E96-4A24-8488-DB4F9D2F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7621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E89D5A-8D52-4AA8-A3B6-A6134095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24050"/>
            <a:ext cx="72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C5AEB-829C-4C3A-8BDC-E6DC9591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051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DAD2C8-B403-47E3-BF42-C6B1E3BB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95625"/>
            <a:ext cx="1828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Comparable 0-100 action utilities with objective floors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DCA400-2F27-40DC-ADC4-C680CC6A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01930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05DD4B-22E2-43C2-B35C-0464259A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621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778023-2394-48C7-8ECE-3D48E8E7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24050"/>
            <a:ext cx="72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13869B-C826-4534-B93F-29F9043F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051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5E3D24-4161-4F62-83DE-D46694C7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95625"/>
            <a:ext cx="1828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Hysteresis prevents jitter; emergency overrides remain active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9CD8F4-ADDE-488E-9ACF-7A0D7096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01930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7068ED-1C0B-4564-A8C2-167DC1D9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7621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5239D4-FB48-4D0B-BA09-331CF509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924050"/>
            <a:ext cx="72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0B4D18-D79A-404D-8CCC-BEF01088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051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Move + 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262A28-19E0-4493-AE05-C447305F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95625"/>
            <a:ext cx="1828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Route, aim, ability, super, fallback, and debug snapshot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C70803-2513-453A-AE40-1A85641F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781550"/>
            <a:ext cx="8458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537BDA-574A-4601-8FDB-CB0B56FB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7815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8FD5C0-CCF3-4F19-8FBC-AE450B71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991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Design principle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3CDC09-22F7-4850-9FB9-7D09D9BF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953000"/>
            <a:ext cx="6057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BFF"/>
                </a:solidFill>
                <a:latin typeface="Aptos"/>
                <a:ea typeface="Aptos"/>
                <a:cs typeface="Aptos"/>
              </a:rPr>
              <a:t>Every layer has one responsibility, so improvements to movement, combat, brawler identity, or mode strategy do not collapse into a single fragile script.</a:t>
            </a:r>
          </a:p>
        </p:txBody>
      </p:sp>
    </p:spTree>
    <p:extLst>
      <p:ext uri="{BB962C8B-B14F-4D97-AF65-F5344CB8AC3E}">
        <p14:creationId xmlns:p14="http://schemas.microsoft.com/office/powerpoint/2010/main" val="34925308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3023E9-D5D1-40C7-AD2D-3CF0CC55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9CB49-6DEE-4B28-B558-21B9B2F8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348CA-0251-4872-9D1A-C61122CB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MODE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0DF0E-B823-4440-B567-B3C0F81C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Game Mode Strategy Is the Highest Priority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430BD-E359-4C0A-B724-40F8E5B0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6C706-1F39-46DD-955E-E80F6DE9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AC7BD3-F2E3-45D1-806D-FB4AF0AC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48577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FA27C-9588-4977-B435-B8EB7368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76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BC3D4-0DD7-45BE-BB75-DE659954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907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C018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01855"/>
                </a:solidFill>
                <a:latin typeface="Aptos"/>
                <a:ea typeface="Aptos"/>
                <a:cs typeface="Aptos"/>
              </a:rPr>
              <a:t>Gem Grab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B169C-7FB6-425B-8021-672D60B2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098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Collect gems, protect carrier, contest mine, pressure enemy carrier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830AF-6A41-4A4A-A8C1-DD86C16B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62100"/>
            <a:ext cx="48577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3CC92-0C0F-4893-B4AC-5E4EB771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62100"/>
            <a:ext cx="76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DADC33-60DF-4ABE-BF6A-A8145D02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907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Knockout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8B3BF2-B6C2-4869-8D0B-02848D8E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098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No respawn survival, center pressure, threat spacing, poison avoidance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C97855-6913-4F7D-8B25-7D77F2AE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48577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84312-054A-45A9-86AC-2C15DB46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76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F652DD-40EC-4A51-9ABC-40E05310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48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Brawl Ball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0346D4-9F61-4B0E-9F7E-1DBE8796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672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Claim loose ball, pressure carrier, route to goal, pass or shoot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DC0C09-E924-4433-83AB-72A2E57B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19500"/>
            <a:ext cx="48577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96D30A-03E6-4578-942F-E8AFA32A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19500"/>
            <a:ext cx="76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AE39FF-F854-4380-BE0D-40EDFFC9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48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7D3C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D3CFF"/>
                </a:solidFill>
                <a:latin typeface="Aptos"/>
                <a:ea typeface="Aptos"/>
                <a:cs typeface="Aptos"/>
              </a:rPr>
              <a:t>Solo Showdown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F3472D-C9BF-4EB6-BAFD-02730668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Survive poison, collect cubes, avoid bad early fights, finish weak targets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6078F8-043A-490C-A7A3-6665FD6A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Mode strategy sets the win condition. Brawler personality changes how the bot pursues it, not whether it cares about it.</a:t>
            </a:r>
          </a:p>
        </p:txBody>
      </p:sp>
    </p:spTree>
    <p:extLst>
      <p:ext uri="{BB962C8B-B14F-4D97-AF65-F5344CB8AC3E}">
        <p14:creationId xmlns:p14="http://schemas.microsoft.com/office/powerpoint/2010/main" val="55240705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D1940E-EC42-4CCB-A37F-4A5365F0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6126F-03E0-462C-AC02-1468B286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B3A51-0C85-4D1F-B2A4-9FB536FF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BRAWLER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A6828B-494C-4D6C-8D8A-F06D197D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Role-Specific Tactical Intelligence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554E9A-94A3-4457-8193-38652374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E875E-63EB-4376-9302-26D35A4A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164D1-CFF7-4D5C-A8E3-5626BDF5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9FAD3-8B85-4713-9CE9-F2474463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EE4304-2430-4C64-B132-E91FF8CD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3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4D5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4D5F"/>
                </a:solidFill>
                <a:latin typeface="Aptos"/>
                <a:ea typeface="Aptos"/>
                <a:cs typeface="Aptos"/>
              </a:rPr>
              <a:t>Colt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283BA6-38F8-4AB7-812D-01EA9DE6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Long-range damage. Holds line pressure and punishes bad angles.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D246E3-B891-409A-AE6A-8208D074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524000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65CF91-850A-4D28-8745-842C6AAB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52400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8DC11-5C3E-498D-9A2D-1A24BA7D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733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Jessie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59876B-CC2E-46A9-84A8-FD27F046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1336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Controller/support. Values clumps, bounce shots, and turret control.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E848F-FD0B-4A3A-BBD0-F0A498F8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D644F-A0EF-4682-833A-345F1D63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7C465-4CA7-466F-879F-C858BA53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Byron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D647F-E3A7-44F1-AD0A-4383EA38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36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Support sniper. Heals allies below safety threshold and chips enemies.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7D5863-D947-4ABB-9736-6B2FE39D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524000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C79D02-914A-43A9-AE80-F2D0FDE8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52400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6235BC-4934-4C69-B203-239C651E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33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7D3C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7D3CFF"/>
                </a:solidFill>
                <a:latin typeface="Aptos"/>
                <a:ea typeface="Aptos"/>
                <a:cs typeface="Aptos"/>
              </a:rPr>
              <a:t>Barley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624700-24C9-4808-A713-D36F6365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336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Thrower. Plays behind walls and layers area denial.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BEA89F-DF05-4651-A144-CA8BEFEA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D8362C-91ED-465F-9D28-BAF3B257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F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4F65F1-874B-4275-8851-C71BDF1F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861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2D7FF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D7FF9"/>
                </a:solidFill>
                <a:latin typeface="Aptos"/>
                <a:ea typeface="Aptos"/>
                <a:cs typeface="Aptos"/>
              </a:rPr>
              <a:t>El Primo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F87FC7-4FCD-4625-AD68-5BFFDC75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Tank. Uses cover/bush approach and commits when close or super-ready.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C2AF1A-D2DE-40FC-B10E-17004619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76625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08C05F-D913-4033-B495-48C8B735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76625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C01758-8B80-4E9C-8F69-9CBD8CD7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861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Bo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1824DF-7937-4A85-8053-9E5A1166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86225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Controller. Uses ranged chip and mines around lanes, goals, and objectives.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8FB5AC-024C-4D66-87DE-3440D1EC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76625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3E9DA8-713D-4ED0-85D1-0B2E6A58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76625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A39FB2-2D02-4F8B-822A-83E03F0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861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C0185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01855"/>
                </a:solidFill>
                <a:latin typeface="Aptos"/>
                <a:ea typeface="Aptos"/>
                <a:cs typeface="Aptos"/>
              </a:rPr>
              <a:t>Piper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A60682-081C-4EDF-AC79-A516D975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86225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Sniper. Wants distance, burst damage, and leap reposition.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27F664-48A4-46A2-AF4B-D374F7A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76625"/>
            <a:ext cx="2495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51479C-9890-4371-935C-4E3D415E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76625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F0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97120E-C6BF-4432-ACB8-E124F882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861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8EF05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EF05E"/>
                </a:solidFill>
                <a:latin typeface="Aptos"/>
                <a:ea typeface="Aptos"/>
                <a:cs typeface="Aptos"/>
              </a:rPr>
              <a:t>Leon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29E951-0C6C-4B7A-AB61-BFBF7B7D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086225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Assassin. Uses stealth windows and close pressure without blind chasing.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841EBF-ECE2-4A46-A5D8-1E0670CC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581650"/>
            <a:ext cx="925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BFF"/>
                </a:solidFill>
                <a:latin typeface="Aptos"/>
                <a:ea typeface="Aptos"/>
                <a:cs typeface="Aptos"/>
              </a:rPr>
              <a:t>Generic logic decides the common question: what helps the team win now? Role packs decide how this brawler should do it.</a:t>
            </a:r>
          </a:p>
        </p:txBody>
      </p:sp>
    </p:spTree>
    <p:extLst>
      <p:ext uri="{BB962C8B-B14F-4D97-AF65-F5344CB8AC3E}">
        <p14:creationId xmlns:p14="http://schemas.microsoft.com/office/powerpoint/2010/main" val="31081801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4CA3F7-18DF-4AEC-A6FA-9360922B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FFC09-0BD6-42FD-8A8D-80252D5F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BBC6C7-B838-40D9-ACD9-AEA04181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MOVEMENT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42EBA-0A5D-4DC7-90B1-8615FF73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Map-Aware Navigation and Failure Recovery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B4AD91-9575-482A-9F37-149F1CCE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0EC3A-2A84-4B70-AF43-79C7D60E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978C14-65B7-484F-849E-397F8BF4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495800" cy="379095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CE1AA-7755-4EB3-BE8D-69D82DAE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62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A4A2B-13F3-4E47-A61E-FFF90090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Movement standards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EDF030-2497-4E31-A77B-C6C90DF1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90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48510-AB7A-4B52-A278-D5199A85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Grounded grid cells only: no boundary wandering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3CF188-1F42-43BC-A00A-6319C601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4B99F3-68A5-4990-BE46-1EF8D396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5272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A* routes with route intent and safety evaluation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4B44B5-F3AE-4FC0-BA1B-6D72D94A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48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C6A1D6-B26E-443E-AE0C-C866D8E6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81350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Destination abandonment when progress stalls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7DA418-09F4-4FFA-B552-8126C090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76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1223EC-0023-44EA-9B39-4488FAB5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0997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Anti-starvation budget so one bot cannot consume all path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313484-EEF2-4289-AEFE-439F8688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05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8D8301-8A74-4C6D-BAC8-564E07AA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38600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Smoothing to reduce jitter and sudden unnatural turns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E43A5C-0C08-4F0C-B988-D866D9ED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428750"/>
            <a:ext cx="5676900" cy="379095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3274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B313A9-FFE0-488F-8E22-89C9F80F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428750"/>
            <a:ext cx="762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E5EC78-D052-4716-8375-B089CFEE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Recovery loop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654F26-72E1-4D08-8951-5298B4B2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19300"/>
            <a:ext cx="1066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1B8771-4153-477C-BBAD-7FD24664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19300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1F361-916C-4616-9086-F9E4A222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4312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Detect stall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164FC5-423F-42E8-8C39-B15D53C8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43125"/>
            <a:ext cx="342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104D1E-6CC2-4566-BAC8-78F153BA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1066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7CDDE4-CFD4-4C1A-80A0-7C969622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51B906-0C7D-4BC5-89AC-A011ED10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4797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Invalidate bad route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443A07-AFA9-43C5-843B-6D295579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47975"/>
            <a:ext cx="342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3EB4BA-7FB3-4F3D-A1E8-51CA7FC3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29000"/>
            <a:ext cx="1066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C65539-792C-4E24-B9A5-32E53EF1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29000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AAE50C-E208-44FA-B19B-8A34D778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55282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Choose fallback cell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AA2504-6BBE-441E-9445-4F32C088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552825"/>
            <a:ext cx="342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57D142-AC97-4E49-81A7-4D7010B2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133850"/>
            <a:ext cx="1066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69A157-A997-46FC-B3ED-7F18306A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133850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D50C1E-960C-4305-8F68-E0C52197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25767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Resume tactical intent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E36B89-D78E-4A12-B952-5C66F85E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9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The bot does not stand forever when a path becomes invalid. It detects low movement progress, abandons stale commands, and selects a safer reachable alternative.</a:t>
            </a:r>
          </a:p>
        </p:txBody>
      </p:sp>
    </p:spTree>
    <p:extLst>
      <p:ext uri="{BB962C8B-B14F-4D97-AF65-F5344CB8AC3E}">
        <p14:creationId xmlns:p14="http://schemas.microsoft.com/office/powerpoint/2010/main" val="24358462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E63075-6782-463C-BE01-2EF9C88F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64043-99C8-4E70-BFD7-1D72FE42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48A2E-A4FE-4A8B-9322-92CD1B60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COMBAT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96B34-54B5-4746-A3C6-FFB62991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Predictive Combat and Ability Intelligence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D5E55-9EE0-4D56-8111-FFE42D50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0D725-9336-4163-9D9B-AD5F085C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5CC08-ED92-4C35-9EF9-2149A54E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17526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1C2F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B1B39-419B-40A5-B5FB-BE460FFE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DB4D2E-C0B1-4CC6-97BA-2392EF2C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002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7CB604-827D-4B12-90B4-FC20A921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621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EBBD0"/>
                </a:solidFill>
                <a:latin typeface="Aptos"/>
                <a:ea typeface="Aptos"/>
                <a:cs typeface="Aptos"/>
              </a:rPr>
              <a:t>lead targets, avoid bad fire lanes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6154C-40D4-4F76-A6DF-427FB511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38300"/>
            <a:ext cx="17526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1C2F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AEBD30-6AAF-4E12-AC70-95D41661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3830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2F3DA5-719E-4897-99AA-F4661EDF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8002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Ammo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575FE8-6476-4FFC-837A-9D0DDE76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1621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EBBD0"/>
                </a:solidFill>
                <a:latin typeface="Aptos"/>
                <a:ea typeface="Aptos"/>
                <a:cs typeface="Aptos"/>
              </a:rPr>
              <a:t>discipline instead of spam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990CE1-C8A9-4023-82ED-623AB823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38300"/>
            <a:ext cx="17526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1C2F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7093C-592B-4939-BEBE-A0987179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3830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BCB76-0A99-487B-91C8-AD92A276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002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7D3C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7D3CFF"/>
                </a:solidFill>
                <a:latin typeface="Aptos"/>
                <a:ea typeface="Aptos"/>
                <a:cs typeface="Aptos"/>
              </a:rPr>
              <a:t>Super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FF1968-BBAD-4CD3-B651-0051CBE6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621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EBBD0"/>
                </a:solidFill>
                <a:latin typeface="Aptos"/>
                <a:ea typeface="Aptos"/>
                <a:cs typeface="Aptos"/>
              </a:rPr>
              <a:t>setup windows and objective value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7B2A2A-C5DB-42DC-A9AB-8F39EE00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38300"/>
            <a:ext cx="17526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1C2F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FA2274-4831-4A09-AF20-C090E0AD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3830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58D314-6C03-41F7-AECD-13D97016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002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ABE2A0-A3B2-49E5-9B5E-7BA3C4C1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621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EBBD0"/>
                </a:solidFill>
                <a:latin typeface="Aptos"/>
                <a:ea typeface="Aptos"/>
                <a:cs typeface="Aptos"/>
              </a:rPr>
              <a:t>heal, peel, pass, escort, collapse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F6F2C-F7F8-42E1-AA9F-36F60906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38300"/>
            <a:ext cx="17526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91628"/>
          </a:solidFill>
          <a:ln xmlns:a="http://schemas.openxmlformats.org/drawingml/2006/main" w="9525">
            <a:solidFill>
              <a:srgbClr val="1C2F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198E1-4B6F-4282-8D87-1A210D83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3830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27217A-B023-47CD-A072-3D4F9AFE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002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C01855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C01855"/>
                </a:solidFill>
                <a:latin typeface="Aptos"/>
                <a:ea typeface="Aptos"/>
                <a:cs typeface="Aptos"/>
              </a:rPr>
              <a:t>Mode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CF0DD3-4D33-4076-A578-A6486054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621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EBBD0"/>
                </a:solidFill>
                <a:latin typeface="Aptos"/>
                <a:ea typeface="Aptos"/>
                <a:cs typeface="Aptos"/>
              </a:rPr>
              <a:t>objective floor over blind fighting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BF0F2D-521D-4004-8C84-58DBBA47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48006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5F3EB6-10C8-4728-B513-305E27F1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76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8E26B7-38FE-4B7E-87F6-905CB728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86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Examples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7A586F-8486-43EC-BFAE-F60F00D1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4EB913-C8FE-4BB8-AB30-036BBAD1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43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Byron chooses heal-vs-damage based on ally health and fight pressure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B796CA-5407-4A73-BDC0-13131C05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52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3308A6-E852-425E-9833-0C08CF55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86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Barley prefers indirect throw lanes instead of standing in line of fire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B81D1E-92A3-4FC7-8752-F8BCE6C3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95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FEADDB-6645-4F1C-8764-74D1B016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Bo places mines in high-value traffic zones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1A4FB1-8B16-4D3E-9988-997A22B2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00400"/>
            <a:ext cx="48006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33C0F0-B03B-48C0-8329-CC4D05E9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00400"/>
            <a:ext cx="76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7B1D09-9471-46D8-A08F-66FB872B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86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Fairness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2BB8EB-6BBC-4F92-8779-802CEF75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118703-4F52-46C8-BF9E-480C11D5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43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Difficulty and tier adjust reaction rhythm, commitment, aim confidence, and mistakes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D45F3C-9D89-4DEF-8972-332D23D2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52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00E515-E592-4267-B9AE-FD12F26A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86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Hard/elite bots are smarter, not secretly immune or overpowered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73D8FC-AAAA-42D2-A195-905F0AD4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95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B7F9DC-64B5-455A-AF58-FDB7E36A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29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Behavior remains inspectable through debug telemetry</a:t>
            </a:r>
          </a:p>
        </p:txBody>
      </p:sp>
    </p:spTree>
    <p:extLst>
      <p:ext uri="{BB962C8B-B14F-4D97-AF65-F5344CB8AC3E}">
        <p14:creationId xmlns:p14="http://schemas.microsoft.com/office/powerpoint/2010/main" val="1478309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596DFD-CEA0-463F-8DE3-A91A8CBB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A5D61-7D1A-44E6-88DC-FACC7A9E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72376-D62D-4A67-A5A2-5A6F87AF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3700E-EA31-4738-9B72-D581EDBA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Gem Grab Objective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A7BF5C-C627-41A7-8673-4278F356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26BD0-AA48-40F8-A086-5B4AE4D1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6470e1e3740e8"/>
          <a:srcRect xmlns:a="http://schemas.openxmlformats.org/drawingml/2006/main" l="0" t="1411" r="0" b="14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295400"/>
            <a:ext cx="7372350" cy="4343400"/>
          </a:xfrm>
          <a:prstGeom xmlns:a="http://schemas.openxmlformats.org/drawingml/2006/main" prst="roundRect">
            <a:avLst>
              <a:gd name="adj" fmla="val 175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F30BB8-CD41-431C-983D-59D1DC2B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7372350" cy="4343400"/>
          </a:xfrm>
          <a:prstGeom xmlns:a="http://schemas.openxmlformats.org/drawingml/2006/main" prst="roundRect">
            <a:avLst>
              <a:gd name="adj" fmla="val 17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337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62C297-97AD-4C40-A105-C16A3A6E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90650"/>
            <a:ext cx="304800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7111F">
              <a:alpha val="80000"/>
            </a:srgbClr>
          </a:solidFill>
          <a:ln xmlns:a="http://schemas.openxmlformats.org/drawingml/2006/main" w="9525">
            <a:solidFill>
              <a:srgbClr val="16254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A255A-18A9-4340-BA6F-86EF4A8E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90650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A3A1E-CC59-400C-8534-2601F25F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04950"/>
            <a:ext cx="2781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Gem Grab evidence: bots must value the central mine, carrier safety, and countdown pressure over random duels.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62D15-24EA-4322-94EB-9B78F4FE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38450"/>
            <a:ext cx="30480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D22643-DF85-4C5C-A07F-192C80E4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38450"/>
            <a:ext cx="762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E62B4A-A636-4297-87AF-A4FF7C15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86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AI requirements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3D6BE8-D05D-4EA6-A92C-AA5CAD43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09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1D1991-7E2B-4E2C-A3D2-371BB3D9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5433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Collect loose gems quickly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9164E-614E-4B28-AAFE-25C13E04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14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24BC3C-78C3-4092-8126-3F546272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481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Protect own carrier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398D68-CD64-4792-9165-1FE6B345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219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5A33F0-29F0-4467-B57D-F607A985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529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Pressure enemy carrier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A7063A-FB31-4018-A25A-14AE428D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24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934568-AE88-4759-A6F1-70293D9D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57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Contest mine when behind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777326-24BF-45E2-ADC1-C606D571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8291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9D91D5-A2E5-4015-87EB-6DF7D12C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62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Retreat during countdown</a:t>
            </a:r>
          </a:p>
        </p:txBody>
      </p:sp>
    </p:spTree>
    <p:extLst>
      <p:ext uri="{BB962C8B-B14F-4D97-AF65-F5344CB8AC3E}">
        <p14:creationId xmlns:p14="http://schemas.microsoft.com/office/powerpoint/2010/main" val="249623223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7AD193-DE17-4095-897A-55E30C59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EFA14B-3D65-4975-A629-201E733F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A46B7-F886-44B8-9587-31F2E32D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646B3-77BA-420C-93FE-02B04673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Brawl Ball and Knockout Playtest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3599D-07F7-4E04-A3A4-4A642625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4FFD2F-8F6C-44C2-B4BA-5D553BC4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7fbc949524bd8"/>
          <a:srcRect xmlns:a="http://schemas.openxmlformats.org/drawingml/2006/main" l="0" t="659" r="0" b="6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1352550"/>
            <a:ext cx="5219700" cy="3086100"/>
          </a:xfrm>
          <a:prstGeom xmlns:a="http://schemas.openxmlformats.org/drawingml/2006/main" prst="roundRect">
            <a:avLst>
              <a:gd name="adj" fmla="val 246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8DAFF-D788-4F6C-9A21-19703A3E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5219700" cy="3086100"/>
          </a:xfrm>
          <a:prstGeom xmlns:a="http://schemas.openxmlformats.org/drawingml/2006/main" prst="roundRect">
            <a:avLst>
              <a:gd name="adj" fmla="val 246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33757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e5215379c24245"/>
          <a:srcRect xmlns:a="http://schemas.openxmlformats.org/drawingml/2006/main" l="5237" t="0" r="52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1750" y="1352550"/>
            <a:ext cx="5219700" cy="3086100"/>
          </a:xfrm>
          <a:prstGeom xmlns:a="http://schemas.openxmlformats.org/drawingml/2006/main" prst="roundRect">
            <a:avLst>
              <a:gd name="adj" fmla="val 2469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5F67B-C582-4B4C-9B25-BF9E3B26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52550"/>
            <a:ext cx="5219700" cy="3086100"/>
          </a:xfrm>
          <a:prstGeom xmlns:a="http://schemas.openxmlformats.org/drawingml/2006/main" prst="roundRect">
            <a:avLst>
              <a:gd name="adj" fmla="val 246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3375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A44233-39F6-46FA-8D1A-33485AEA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76250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7111F">
              <a:alpha val="80000"/>
            </a:srgbClr>
          </a:solidFill>
          <a:ln xmlns:a="http://schemas.openxmlformats.org/drawingml/2006/main" w="9525">
            <a:solidFill>
              <a:srgbClr val="16254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E21670-3E83-44D2-B5FB-46CE3375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E9A5F-220E-4A3D-85C0-8EF03A96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00600"/>
            <a:ext cx="4495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Brawl Ball fix: loose ball now creates a push macro call so bots claim the objective before drifting into generic combat.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B80228-B18D-40C0-A7AD-541313CF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476250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7111F">
              <a:alpha val="80000"/>
            </a:srgbClr>
          </a:solidFill>
          <a:ln xmlns:a="http://schemas.openxmlformats.org/drawingml/2006/main" w="9525">
            <a:solidFill>
              <a:srgbClr val="16254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9B5AC3-3C4B-4001-A9BE-F0201F57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1833BA-3BA1-443F-8254-B5696068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00600"/>
            <a:ext cx="4495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Knockout fix: local-player respawn/camera ownership now rebinds after the round reset, restoring control cleanly.</a:t>
            </a:r>
          </a:p>
        </p:txBody>
      </p:sp>
    </p:spTree>
    <p:extLst>
      <p:ext uri="{BB962C8B-B14F-4D97-AF65-F5344CB8AC3E}">
        <p14:creationId xmlns:p14="http://schemas.microsoft.com/office/powerpoint/2010/main" val="34699669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2D3B4C-9C2B-456C-94C4-D987DA61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65940-78D8-4C65-90FB-79C24C33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A24C9-AD95-4DC4-9F00-C77BD211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DEBUGGING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73343-C09B-47D9-9267-A9C4A1C1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Scene View AI Debug Visibility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49635-C1E2-4DBD-9CE5-43A625EE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A512C-8BE5-4321-A46A-91027AF8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9972f5b8b54f9c"/>
          <a:srcRect xmlns:a="http://schemas.openxmlformats.org/drawingml/2006/main" l="10635" t="0" r="106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257300"/>
            <a:ext cx="5143500" cy="323850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7141F-FA90-47FA-A03A-C25B4AEE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5143500" cy="3238500"/>
          </a:xfrm>
          <a:prstGeom xmlns:a="http://schemas.openxmlformats.org/drawingml/2006/main" prst="roundRect">
            <a:avLst>
              <a:gd name="adj" fmla="val 235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33757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5cf070e48412e"/>
          <a:srcRect xmlns:a="http://schemas.openxmlformats.org/drawingml/2006/main" l="5509" t="0" r="550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8900" y="1257300"/>
            <a:ext cx="5143500" cy="323850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E1598-3A17-4FED-B4C5-B4D0C61F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257300"/>
            <a:ext cx="5143500" cy="3238500"/>
          </a:xfrm>
          <a:prstGeom xmlns:a="http://schemas.openxmlformats.org/drawingml/2006/main" prst="roundRect">
            <a:avLst>
              <a:gd name="adj" fmla="val 235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3375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01F8F-D0F2-4D99-9D6B-A645328F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00600"/>
            <a:ext cx="93726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81528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27B06F-F337-4347-8894-B42118C9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006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426BE-1649-4981-BED3-E0DC2BD9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868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Debug data shown in the editor: current action, intent, target, role, tier, confidence score, path length, route mode, stuck counter, destination, rays, and objective context.</a:t>
            </a:r>
          </a:p>
        </p:txBody>
      </p:sp>
    </p:spTree>
    <p:extLst>
      <p:ext uri="{BB962C8B-B14F-4D97-AF65-F5344CB8AC3E}">
        <p14:creationId xmlns:p14="http://schemas.microsoft.com/office/powerpoint/2010/main" val="265344291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E0D044-74B5-4210-B631-B25F0E78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11924-2FDF-422B-A684-9D3A6B2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85C56E-F5BC-4A71-A67C-1D153773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695DF-CDEF-42B1-96F7-4A23F9CE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Playable Systems Around the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4B05D5-5322-4065-93F3-3B268264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0095D-56FF-4BE5-A69F-2BC51FCD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b38902bd84bb9"/>
          <a:srcRect xmlns:a="http://schemas.openxmlformats.org/drawingml/2006/main" l="10652" t="0" r="1065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314450"/>
            <a:ext cx="5219700" cy="3219450"/>
          </a:xfrm>
          <a:prstGeom xmlns:a="http://schemas.openxmlformats.org/drawingml/2006/main" prst="roundRect">
            <a:avLst>
              <a:gd name="adj" fmla="val 236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77993-14D4-4DDE-981B-CA21566F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14450"/>
            <a:ext cx="5219700" cy="3219450"/>
          </a:xfrm>
          <a:prstGeom xmlns:a="http://schemas.openxmlformats.org/drawingml/2006/main" prst="roundRect">
            <a:avLst>
              <a:gd name="adj" fmla="val 2367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33757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c4e2308ea4421"/>
          <a:srcRect xmlns:a="http://schemas.openxmlformats.org/drawingml/2006/main" l="9440" t="0" r="944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14450"/>
            <a:ext cx="5219700" cy="3219450"/>
          </a:xfrm>
          <a:prstGeom xmlns:a="http://schemas.openxmlformats.org/drawingml/2006/main" prst="roundRect">
            <a:avLst>
              <a:gd name="adj" fmla="val 236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3C346-60DA-4EFC-91D9-F73EAE30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14450"/>
            <a:ext cx="5219700" cy="3219450"/>
          </a:xfrm>
          <a:prstGeom xmlns:a="http://schemas.openxmlformats.org/drawingml/2006/main" prst="roundRect">
            <a:avLst>
              <a:gd name="adj" fmla="val 2367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3375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FE8AE8-2726-4AF5-9E88-8BA5717D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476250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07111F">
              <a:alpha val="80000"/>
            </a:srgbClr>
          </a:solidFill>
          <a:ln xmlns:a="http://schemas.openxmlformats.org/drawingml/2006/main" w="9525">
            <a:solidFill>
              <a:srgbClr val="16254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2DCF8-D74C-4897-AF28-84A546F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7AFDB0-7002-4DFC-97AF-5DFFF743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958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Brawler select: role, power, gear, gadget, star power, hypercharge, and nanopower data are surfaced before play.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A74A7-6AFD-49F9-A949-729492CB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81550"/>
            <a:ext cx="476250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07111F">
              <a:alpha val="80000"/>
            </a:srgbClr>
          </a:solidFill>
          <a:ln xmlns:a="http://schemas.openxmlformats.org/drawingml/2006/main" w="9525">
            <a:solidFill>
              <a:srgbClr val="16254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2284C3-06C1-4FCB-A9FA-0738A58B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81550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E65006-6929-43C6-961F-5D2DA251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Match end: kills, damage, assists, gems, rating, winner, and star player help validate whether AI behavior is useful.</a:t>
            </a:r>
          </a:p>
        </p:txBody>
      </p:sp>
    </p:spTree>
    <p:extLst>
      <p:ext uri="{BB962C8B-B14F-4D97-AF65-F5344CB8AC3E}">
        <p14:creationId xmlns:p14="http://schemas.microsoft.com/office/powerpoint/2010/main" val="296230930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68697E-A11E-4ACC-B622-E4C7744E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3C71F-1979-4195-B78C-3B09825D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3B19A5-87FA-45B5-9B13-78036868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E04F1-5F00-4E22-9757-2791CD4A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Source Excerpts From Recent Fixes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837DE6-11D4-4CD1-806B-B5A2F4B3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BD345-268D-46EA-A977-6742E265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742A7-6D95-4EDD-875D-6BF43720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5219700" cy="3733800"/>
          </a:xfrm>
          <a:prstGeom xmlns:a="http://schemas.openxmlformats.org/drawingml/2006/main" prst="roundRect">
            <a:avLst>
              <a:gd name="adj" fmla="val 1531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2638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0E1264-5DA6-4621-9097-A8958A83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762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3662B-BF78-4970-96B3-96FD7F8D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487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Brawl Ball objective fix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6CA00-031C-4662-9F5A-FD51CC61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4800600" cy="3181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else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call = AIGameModeMacroCall.Push;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reason = "loose_ball_claim";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return new AIGameModeMacroState(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GameModeId.BrawlBall,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call,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phase,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ownGoals,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enemyGoals,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goalsToWin,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0f,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matchTimeRemainingSeconds,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isLeading,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isBehind,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false,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false,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reason);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2F4384-6372-440A-B33B-562785CC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390650"/>
            <a:ext cx="5219700" cy="3733800"/>
          </a:xfrm>
          <a:prstGeom xmlns:a="http://schemas.openxmlformats.org/drawingml/2006/main" prst="roundRect">
            <a:avLst>
              <a:gd name="adj" fmla="val 1531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2638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9F72D-10EB-4474-8C23-2EC660E1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390650"/>
            <a:ext cx="762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5FC52E-8A0C-4812-82E2-EC39016B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524000"/>
            <a:ext cx="487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Camera restoration after round reset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69FD7A-06C1-4727-AB77-574C777D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47850"/>
            <a:ext cx="4800600" cy="3181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private void CompleteRespawn(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BrawlerController brawler,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Vector3 position)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if (brawler == null)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    return;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brawler.gameObject.SetActive(true);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brawler.Respawn(position);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if (brawler.GetComponent&lt;PlayerCommandSource&gt;() != null)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    SetPlayerTarget(brawler.PresentationFollowTarget);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    OnBrawlerRespawned?.Invoke(brawler);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25" b="0">
                <a:solidFill>
                  <a:srgbClr val="D8FFE7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D8FFE7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BFB768-4B6C-402F-8E8B-4D8EDABE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48300"/>
            <a:ext cx="975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BFF"/>
                </a:solidFill>
                <a:latin typeface="Aptos"/>
                <a:ea typeface="Aptos"/>
                <a:cs typeface="Aptos"/>
              </a:rPr>
              <a:t>Both changes avoid makeshift one-off checks: the mode layer now expresses objective priority, and respawn ownership emits a reusable lifecycle signal.</a:t>
            </a:r>
          </a:p>
        </p:txBody>
      </p:sp>
    </p:spTree>
    <p:extLst>
      <p:ext uri="{BB962C8B-B14F-4D97-AF65-F5344CB8AC3E}">
        <p14:creationId xmlns:p14="http://schemas.microsoft.com/office/powerpoint/2010/main" val="235296119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36AE39-A7D3-4FFD-8B0A-A919A3EE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52A38-4151-4E89-9CF9-6069A08F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C761B-B436-4FED-B693-387E7C594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35C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C9FF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E14B9-8C09-4E86-A09D-117097FF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Validation, Results, and Future 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B638CA-6919-412C-9787-DEE99052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Advanced Game AI System | Akash Dhyani | AA.SC.U3BCA2307092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E678F-274E-49D2-8B32-E071CD20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CB2574-F4BD-41BD-8A78-5446015B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3333750" cy="37909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84DCA-F836-4EEB-A755-8A01159B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762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C18706-04C6-444F-AEA2-D49A0C5E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38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39D98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9D98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7339B-B79D-4EEC-B9FE-7CA21ABC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38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23BF26-206A-4371-A66F-BB7A130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717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Unity playtests for mode objectives and combat feel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FAC58B-52AD-4C6E-A418-D7653185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0BDE03-5458-467F-8736-921398B5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908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Debug overlay for decisions, paths, targets, and score gaps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3FC7D-7390-496F-B3C9-998152AF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29BB9-FCCE-41BB-AFA2-662F1913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Telemetry for stuck behavior, objective neglect, and 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3FE6E-97E6-4297-B0C5-ABB29533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E7130E-22D8-4B79-B267-547AD56C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Regression fixes are committed as separate reviewable changes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AEAE08-C0D4-4F87-BB5C-89490863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333500"/>
            <a:ext cx="3333750" cy="37909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3274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1672F6-72DF-4968-A0C2-BB8D33EB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333500"/>
            <a:ext cx="762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1A13C-7DBC-41D2-A6E7-933BFB8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638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5A819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A819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5656EF-3358-4A25-A4BD-5880B5B6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09800"/>
            <a:ext cx="2495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BFF"/>
                </a:solidFill>
                <a:latin typeface="Aptos"/>
                <a:ea typeface="Aptos"/>
                <a:cs typeface="Aptos"/>
              </a:rPr>
              <a:t>The AI is a layered, objective-aware system with team blackboard coordination, brawler-specific tactics, game-mode macro strategy, map-aware navigation, recovery hardening, and visible validation tools.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155C3C-C04D-42EC-B47C-FDB3A858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81450"/>
            <a:ext cx="9144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5C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EFCBB3-2EAD-4274-9C15-311605ED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2907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6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6111F"/>
                </a:solidFill>
                <a:latin typeface="Aptos"/>
                <a:ea typeface="Aptos"/>
                <a:cs typeface="Aptos"/>
              </a:rPr>
              <a:t>Modular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4E20AD-B9F7-42E8-B550-6EF3C3A9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81450"/>
            <a:ext cx="9144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9D9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ACCCDB-FB94-4074-A220-D50C1EBA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2907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6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6111F"/>
                </a:solidFill>
                <a:latin typeface="Aptos"/>
                <a:ea typeface="Aptos"/>
                <a:cs typeface="Aptos"/>
              </a:rPr>
              <a:t>Tunable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71CEB9-3406-422B-98BC-854A4301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00550"/>
            <a:ext cx="12954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7D3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C572FC-D5F3-4BBB-9EF2-16F12D4D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448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Inspectable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D8C42E-EA05-494A-9F2F-9D259880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333500"/>
            <a:ext cx="3333750" cy="37909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D36"/>
          </a:solidFill>
          <a:ln xmlns:a="http://schemas.openxmlformats.org/drawingml/2006/main" w="9525">
            <a:solidFill>
              <a:srgbClr val="2337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DB4D84-9153-4BE4-8B14-A7BD32CD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333500"/>
            <a:ext cx="762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11271A-3B73-4EE1-9F19-F7C1DD16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38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C0185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01855"/>
                </a:solidFill>
                <a:latin typeface="Aptos"/>
                <a:ea typeface="Aptos"/>
                <a:cs typeface="Aptos"/>
              </a:rPr>
              <a:t>Future Work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A5C965-8217-40C9-B678-F1BAAE9F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38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8B099F-EA3A-421E-B479-DF6540E7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71700"/>
            <a:ext cx="243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Automated AI gauntlets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B13E7B-5AD4-42B3-B113-9D0A32D6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19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08B125-B433-4A21-B081-97DA613A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52700"/>
            <a:ext cx="243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Richer semantic maps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CFACF0-3588-4C59-8DF5-B66DE6EA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00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9753C5-B812-498A-B012-120B52CB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33700"/>
            <a:ext cx="243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More brawler packs and counters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5A1275-737D-49CB-B8F7-9F2ED286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381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5CB899-DE4B-4906-ACED-02A81E48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14700"/>
            <a:ext cx="243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Optional ML-Agents experiments later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8E4A95-903C-4986-AA3E-5F3403FE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62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A8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13640C-60EF-4A02-A589-198EA55A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95700"/>
            <a:ext cx="243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AEBBD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EBBD0"/>
                </a:solidFill>
                <a:latin typeface="Aptos"/>
                <a:ea typeface="Aptos"/>
                <a:cs typeface="Aptos"/>
              </a:rPr>
              <a:t>Network-ready authority boundaries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060A411-19E6-4D32-AAAE-52382DA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581650"/>
            <a:ext cx="8724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9807A6-E2B3-417A-AC18-ED4EFB11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772150"/>
            <a:ext cx="902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71809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18096"/>
                </a:solidFill>
                <a:latin typeface="Aptos"/>
                <a:ea typeface="Aptos"/>
                <a:cs typeface="Aptos"/>
              </a:rPr>
              <a:t>References: project proposal, interim report, final report, Unity documentation, A* pathfinding, Artificial Intelligence for Games, and Artificial Intelligence and Games.</a:t>
            </a:r>
          </a:p>
        </p:txBody>
      </p:sp>
    </p:spTree>
    <p:extLst>
      <p:ext uri="{BB962C8B-B14F-4D97-AF65-F5344CB8AC3E}">
        <p14:creationId xmlns:p14="http://schemas.microsoft.com/office/powerpoint/2010/main" val="389874810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2026-07-31T12:30:09.9010000Z</dcterms:created>
  <dcterms:modified xsi:type="dcterms:W3CDTF">2026-07-31T12:30:09.9010000Z</dcterms:modified>
</coreProperties>
</file>
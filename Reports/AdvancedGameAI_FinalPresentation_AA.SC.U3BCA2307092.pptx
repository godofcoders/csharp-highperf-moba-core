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3413c95139431a" /><Relationship Type="http://schemas.openxmlformats.org/officeDocument/2006/relationships/extended-properties" Target="/docProps/app.xml" Id="Rf05424b8c20d4dd8" /><Relationship Type="http://schemas.openxmlformats.org/officeDocument/2006/relationships/officeDocument" Target="/ppt/presentation.xml" Id="R77121c4709e84f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c3d253e8fa4b33"/>
  </p:sldMasterIdLst>
  <p:notesMasterIdLst>
    <p:notesMasterId xmlns:r="http://schemas.openxmlformats.org/officeDocument/2006/relationships" r:id="R7f15a9c85a124d40"/>
  </p:notesMasterIdLst>
  <p:sldIdLst>
    <p:sldId xmlns:r="http://schemas.openxmlformats.org/officeDocument/2006/relationships" id="256" r:id="Rffaf12127e654a66"/>
    <p:sldId xmlns:r="http://schemas.openxmlformats.org/officeDocument/2006/relationships" id="257" r:id="R831389531b4e49c3"/>
    <p:sldId xmlns:r="http://schemas.openxmlformats.org/officeDocument/2006/relationships" id="258" r:id="R8d6bf6d4314147c1"/>
    <p:sldId xmlns:r="http://schemas.openxmlformats.org/officeDocument/2006/relationships" id="259" r:id="R5df479898d264d6e"/>
    <p:sldId xmlns:r="http://schemas.openxmlformats.org/officeDocument/2006/relationships" id="260" r:id="R8c0458f681fd472a"/>
    <p:sldId xmlns:r="http://schemas.openxmlformats.org/officeDocument/2006/relationships" id="261" r:id="R5f41ff8d77ac4d28"/>
    <p:sldId xmlns:r="http://schemas.openxmlformats.org/officeDocument/2006/relationships" id="262" r:id="Ra6fedaaef81445ea"/>
    <p:sldId xmlns:r="http://schemas.openxmlformats.org/officeDocument/2006/relationships" id="263" r:id="R80f0f9f47aeb4651"/>
    <p:sldId xmlns:r="http://schemas.openxmlformats.org/officeDocument/2006/relationships" id="264" r:id="R9416e15f2c3348dd"/>
    <p:sldId xmlns:r="http://schemas.openxmlformats.org/officeDocument/2006/relationships" id="265" r:id="R2d473d8d11e141c0"/>
    <p:sldId xmlns:r="http://schemas.openxmlformats.org/officeDocument/2006/relationships" id="266" r:id="Rabb5e905d2ea4bbc"/>
    <p:sldId xmlns:r="http://schemas.openxmlformats.org/officeDocument/2006/relationships" id="267" r:id="Rc5a182098cd44d10"/>
    <p:sldId xmlns:r="http://schemas.openxmlformats.org/officeDocument/2006/relationships" id="268" r:id="Rd79c66419738497f"/>
    <p:sldId xmlns:r="http://schemas.openxmlformats.org/officeDocument/2006/relationships" id="269" r:id="R4a617f0b97c049d1"/>
    <p:sldId xmlns:r="http://schemas.openxmlformats.org/officeDocument/2006/relationships" id="270" r:id="R9cd2cccd77ad4458"/>
    <p:sldId xmlns:r="http://schemas.openxmlformats.org/officeDocument/2006/relationships" id="271" r:id="R5cdf784cf6c6499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7bcfb0a0be420f" /><Relationship Type="http://schemas.openxmlformats.org/officeDocument/2006/relationships/slideMaster" Target="/ppt/slideMasters/slideMaster1.xml" Id="R1fc3d253e8fa4b33" /><Relationship Type="http://schemas.openxmlformats.org/officeDocument/2006/relationships/notesMaster" Target="/ppt/notesMasters/notesMaster1.xml" Id="R7f15a9c85a124d40" /><Relationship Type="http://schemas.openxmlformats.org/officeDocument/2006/relationships/presProps" Target="/ppt/presProps.xml" Id="Rdd4478ecc49142bf" /><Relationship Type="http://schemas.openxmlformats.org/officeDocument/2006/relationships/viewProps" Target="/ppt/viewProps.xml" Id="R576ff653d4d54b3c" /><Relationship Type="http://schemas.openxmlformats.org/officeDocument/2006/relationships/tableStyles" Target="/ppt/tableStyles.xml" Id="Rc0bbf04381674c7e" /><Relationship Type="http://schemas.openxmlformats.org/officeDocument/2006/relationships/slide" Target="/ppt/slides/slide1.xml" Id="Rffaf12127e654a66" /><Relationship Type="http://schemas.openxmlformats.org/officeDocument/2006/relationships/slide" Target="/ppt/slides/slide2.xml" Id="R831389531b4e49c3" /><Relationship Type="http://schemas.openxmlformats.org/officeDocument/2006/relationships/slide" Target="/ppt/slides/slide3.xml" Id="R8d6bf6d4314147c1" /><Relationship Type="http://schemas.openxmlformats.org/officeDocument/2006/relationships/slide" Target="/ppt/slides/slide4.xml" Id="R5df479898d264d6e" /><Relationship Type="http://schemas.openxmlformats.org/officeDocument/2006/relationships/slide" Target="/ppt/slides/slide5.xml" Id="R8c0458f681fd472a" /><Relationship Type="http://schemas.openxmlformats.org/officeDocument/2006/relationships/slide" Target="/ppt/slides/slide6.xml" Id="R5f41ff8d77ac4d28" /><Relationship Type="http://schemas.openxmlformats.org/officeDocument/2006/relationships/slide" Target="/ppt/slides/slide7.xml" Id="Ra6fedaaef81445ea" /><Relationship Type="http://schemas.openxmlformats.org/officeDocument/2006/relationships/slide" Target="/ppt/slides/slide8.xml" Id="R80f0f9f47aeb4651" /><Relationship Type="http://schemas.openxmlformats.org/officeDocument/2006/relationships/slide" Target="/ppt/slides/slide9.xml" Id="R9416e15f2c3348dd" /><Relationship Type="http://schemas.openxmlformats.org/officeDocument/2006/relationships/slide" Target="/ppt/slides/slide10.xml" Id="R2d473d8d11e141c0" /><Relationship Type="http://schemas.openxmlformats.org/officeDocument/2006/relationships/slide" Target="/ppt/slides/slide11.xml" Id="Rabb5e905d2ea4bbc" /><Relationship Type="http://schemas.openxmlformats.org/officeDocument/2006/relationships/slide" Target="/ppt/slides/slide12.xml" Id="Rc5a182098cd44d10" /><Relationship Type="http://schemas.openxmlformats.org/officeDocument/2006/relationships/slide" Target="/ppt/slides/slide13.xml" Id="Rd79c66419738497f" /><Relationship Type="http://schemas.openxmlformats.org/officeDocument/2006/relationships/slide" Target="/ppt/slides/slide14.xml" Id="R4a617f0b97c049d1" /><Relationship Type="http://schemas.openxmlformats.org/officeDocument/2006/relationships/slide" Target="/ppt/slides/slide15.xml" Id="R9cd2cccd77ad4458" /><Relationship Type="http://schemas.openxmlformats.org/officeDocument/2006/relationships/slide" Target="/ppt/slides/slide16.xml" Id="R5cdf784cf6c649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1cb2c79a0c46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2faff1df704c45" /><Relationship Type="http://schemas.openxmlformats.org/officeDocument/2006/relationships/notesMaster" Target="/ppt/notesMasters/notesMaster1.xml" Id="Ref2b3841673e48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a1ba5e10b14d0d" /><Relationship Type="http://schemas.openxmlformats.org/officeDocument/2006/relationships/notesMaster" Target="/ppt/notesMasters/notesMaster1.xml" Id="R6865ca6c9c2640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f2dff5b5b84fd7" /><Relationship Type="http://schemas.openxmlformats.org/officeDocument/2006/relationships/notesMaster" Target="/ppt/notesMasters/notesMaster1.xml" Id="R88e4f45ab14546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707e4030354d69" /><Relationship Type="http://schemas.openxmlformats.org/officeDocument/2006/relationships/notesMaster" Target="/ppt/notesMasters/notesMaster1.xml" Id="Re6c065bf33264b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ed11dc8b324091" /><Relationship Type="http://schemas.openxmlformats.org/officeDocument/2006/relationships/notesMaster" Target="/ppt/notesMasters/notesMaster1.xml" Id="R3839135aaa214af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4c5b5d37deb4d40" /><Relationship Type="http://schemas.openxmlformats.org/officeDocument/2006/relationships/notesMaster" Target="/ppt/notesMasters/notesMaster1.xml" Id="Rd60be3a4936c40e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0cdec22bed4bb9" /><Relationship Type="http://schemas.openxmlformats.org/officeDocument/2006/relationships/notesMaster" Target="/ppt/notesMasters/notesMaster1.xml" Id="R54923c91ad84423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527fe0013bb4563" /><Relationship Type="http://schemas.openxmlformats.org/officeDocument/2006/relationships/notesMaster" Target="/ppt/notesMasters/notesMaster1.xml" Id="R23086223875d44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df7ac68ddc14cbf" /><Relationship Type="http://schemas.openxmlformats.org/officeDocument/2006/relationships/notesMaster" Target="/ppt/notesMasters/notesMaster1.xml" Id="R6016c700bad54e2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347119c74b94edd" /><Relationship Type="http://schemas.openxmlformats.org/officeDocument/2006/relationships/notesMaster" Target="/ppt/notesMasters/notesMaster1.xml" Id="R13764f2f728041c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be1aa2da0e4209" /><Relationship Type="http://schemas.openxmlformats.org/officeDocument/2006/relationships/notesMaster" Target="/ppt/notesMasters/notesMaster1.xml" Id="R473da62fe027413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6fccea775e44cae" /><Relationship Type="http://schemas.openxmlformats.org/officeDocument/2006/relationships/notesMaster" Target="/ppt/notesMasters/notesMaster1.xml" Id="Re39d1bd01ac6404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7519436fb7e4f05" /><Relationship Type="http://schemas.openxmlformats.org/officeDocument/2006/relationships/notesMaster" Target="/ppt/notesMasters/notesMaster1.xml" Id="Rcfbc521ec2264ff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54bd7b4baae42d2" /><Relationship Type="http://schemas.openxmlformats.org/officeDocument/2006/relationships/notesMaster" Target="/ppt/notesMasters/notesMaster1.xml" Id="Reb23db1accc9454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00a3ea5abdf41bc" /><Relationship Type="http://schemas.openxmlformats.org/officeDocument/2006/relationships/notesMaster" Target="/ppt/notesMasters/notesMaster1.xml" Id="Rda4555c3117c4cb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b2f297365f8402a" /><Relationship Type="http://schemas.openxmlformats.org/officeDocument/2006/relationships/notesMaster" Target="/ppt/notesMasters/notesMaster1.xml" Id="R660e5e6a22bd4e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Major project final report title page and project details.</a:t>
            </a:r>
          </a:p>
          <a:p xmlns:a="http://schemas.openxmlformats.org/drawingml/2006/main">
            <a:r>
              <a:t>- Uploaded BCA presentation template, reused without changing the required cover 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Major project final report front matter.</a:t>
            </a:r>
          </a:p>
          <a:p xmlns:a="http://schemas.openxmlformats.org/drawingml/2006/main">
            <a:r>
              <a:t>- Proposal and interim report student metadata.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Major project final report abstract and introduction.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Major project final report problem definition.</a:t>
            </a:r>
          </a:p>
          <a:p xmlns:a="http://schemas.openxmlformats.org/drawingml/2006/main">
            <a:r>
              <a:t>- Playtest issues recorded during development: objective neglect, clumping, stalls, target lock, and weak mode awareness.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Major project final report objectives section.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Major project final report scope section.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Major project final report literature review.</a:t>
            </a:r>
          </a:p>
          <a:p xmlns:a="http://schemas.openxmlformats.org/drawingml/2006/main">
            <a:r>
              <a:t>- Project report references to game AI, A* pathfinding, utility AI, blackboard systems, and Unity ScriptableObjects.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Major project final report proposed system section.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Major project final report system design.</a:t>
            </a:r>
          </a:p>
          <a:p xmlns:a="http://schemas.openxmlformats.org/drawingml/2006/main">
            <a:r>
              <a:t>- Local AI modules: perception, target scoring, utility scoring, commitment, team blackboard, tactical movement, and validation telemetry.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Major project final report methodology and algorithms section.</a:t>
            </a:r>
          </a:p>
          <a:p xmlns:a="http://schemas.openxmlformats.org/drawingml/2006/main">
            <a:r>
              <a:t>- Algorithms and concepts: utility scoring, A* pathfinding, spatial queries, blackboard coordination, and ScriptableObject tuning.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Unity C# implementation files.</a:t>
            </a:r>
          </a:p>
          <a:p xmlns:a="http://schemas.openxmlformats.org/drawingml/2006/main">
            <a:r>
              <a:t>- Code snippets are concise presentation extracts from the implemented AI pipeline.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Gem Grab gameplay screenshot.</a:t>
            </a:r>
          </a:p>
          <a:p xmlns:a="http://schemas.openxmlformats.org/drawingml/2006/main">
            <a:r>
              <a:t>- User-provided match results screenshot.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scene/debug screenshots from playtesting.</a:t>
            </a:r>
          </a:p>
          <a:p xmlns:a="http://schemas.openxmlformats.org/drawingml/2006/main">
            <a:r>
              <a:t>- Major project final report testing and validation section.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Major project final report conclusion and future work sections.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Major project final report references.</a:t>
            </a:r>
          </a:p>
          <a:p xmlns:a="http://schemas.openxmlformats.org/drawingml/2006/main">
            <a:r>
              <a:t>- Local project source code and submitted report artifacts.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Uploaded BCA presentation template closing slide reused with project closing 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38d1285dda457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32da806b474a0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1e19e5a4f3477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e139190f11468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b66b799591406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e9bede6ec242f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451a4cc1584dc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f2d3e8c5ea44f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fa45d946144d5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5506f5d729472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24aea5b1104c7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81886FF-50EF-26D1-014C-A4FF8103875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9E6BD5D-0562-8BD1-A1D4-25B42A60A62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608C7E-621D-2F04-B447-78F1923E86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9BD8C2-863F-4EB6-AE52-E3B5A3659EC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CA19150-7D27-C4B3-F0A3-258DC5BDCE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9ED1D8-0802-E8DF-416E-84009B6FB3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2AA8CC9-A71A-4222-20FF-4064D05E0AC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C26222-DB58-8AFB-21C1-FFB421D8BD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6471D06-3CBF-55D5-8C66-37A4314C26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A08A28C-E968-C293-27C4-BBBCC41065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131274-40E9-D07C-BB25-571C3BEFEB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1CEC77-F569-66EA-BB1F-8E2C312AAE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20AF4EC-E500-4BB7-7EF6-EC8E56AF50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74E818-726B-AF16-991A-AC92EC251A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88B668-0E60-3B95-6B55-09106B98AC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C40B08-9D0A-2463-A72A-FD6895413F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235F49-6698-F304-990D-04083CDE904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D8D5BFF-10BB-6CE3-3464-9CEA9FECC1F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863B4E1-2C12-9746-714D-27964FFD87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5C2D65C-506A-326D-2D0B-24AC69C3476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0B695DD-6688-6E05-46E0-EF0DB94B43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B5ABFF-85EE-5A81-0E02-4917AE36D4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1BC0E26-FA6F-DE25-FB0E-1FA9443E59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7D72099-6E55-F0E3-B2C9-89F95A4D8E5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33177BA-7787-0CB4-447E-F61ECD0B455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EB96AD6-5967-FEBA-7484-50654B48F21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A792607-D84A-8E54-B756-5CD39BE8EE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35A66BA-148C-348B-77BC-72B1E49068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81FAECB-ED4B-0A25-3D8D-AADB56ECBC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444B66C-82D1-9F3A-64B5-D8E94F0493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9588224-5655-1B9B-0928-167EBDACAF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36CE72F-683D-660F-0514-FDF3CAA0AB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BE9DB28-F3D9-D51F-60D7-2E1A2293B0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6137314-12E0-6E29-5F16-428C50A75E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5BA3495-45A3-BF5E-CE36-42EAE62353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9B6C081-2B86-4E00-3E7C-6B19B56FE2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0CDBBBF-0DCB-B95E-FEA2-45408AC2C6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11191C6-9E4D-77BB-8581-2B903C31CB5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87A0F94-B667-4946-4DA9-EB733EB84A2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588FAF2-7C87-70B2-0DB6-C3CBC68B4DB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6D199B2-D637-D9E3-5700-DCFA586A02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DEE8D78-012E-33A5-5E6F-52EC63367C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1DF9C-0AF4-4734-BE32-818E83C4FA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044AF9A-3609-8798-4BA7-52C52A55D15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096A7C2-6EB2-3F47-69CB-5A97600DDF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5730E87-C34C-36A8-C00F-72BA0E3BB58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20B8233-CEFE-5AF6-7BE1-68A868EC73A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881CAD8-680A-B793-E09D-0606B1E007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F537C2C-4E32-A630-F3FA-5D07900A25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190121-2DDA-A67A-129B-E161805CC6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BE6F59-B350-6B0F-1CAE-0E63319326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5F1655-5FB1-FDB8-3034-344B930B59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6BCD497-1238-08E8-EC44-888749ACAA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75EDB17-90A7-FCF8-207C-A4E8EE2DE9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8E39CE3-8B91-6434-D40F-FAB8275756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50EB73-DA96-48FA-95C7-7769410F75F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3CA585-E546-A2E1-E6A8-D0BCAAA9F2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255E46-F98F-2AEB-B7A9-48F958ECBD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11b9cd79d94ee1" /><Relationship Type="http://schemas.openxmlformats.org/officeDocument/2006/relationships/slideLayout" Target="/ppt/slideLayouts/slideLayout1.xml" Id="R64629970aa7b4bde" /><Relationship Type="http://schemas.openxmlformats.org/officeDocument/2006/relationships/slideLayout" Target="/ppt/slideLayouts/slideLayout2.xml" Id="R2470d3d907b34b84" /><Relationship Type="http://schemas.openxmlformats.org/officeDocument/2006/relationships/slideLayout" Target="/ppt/slideLayouts/slideLayout3.xml" Id="R5d397ee771b646bd" /><Relationship Type="http://schemas.openxmlformats.org/officeDocument/2006/relationships/slideLayout" Target="/ppt/slideLayouts/slideLayout4.xml" Id="Rf49a1f41406f478a" /><Relationship Type="http://schemas.openxmlformats.org/officeDocument/2006/relationships/slideLayout" Target="/ppt/slideLayouts/slideLayout5.xml" Id="R7b09f55f6c5c4a8f" /><Relationship Type="http://schemas.openxmlformats.org/officeDocument/2006/relationships/slideLayout" Target="/ppt/slideLayouts/slideLayout6.xml" Id="R1f4f7a1a56d245dd" /><Relationship Type="http://schemas.openxmlformats.org/officeDocument/2006/relationships/slideLayout" Target="/ppt/slideLayouts/slideLayout7.xml" Id="R8120acc3a016411d" /><Relationship Type="http://schemas.openxmlformats.org/officeDocument/2006/relationships/slideLayout" Target="/ppt/slideLayouts/slideLayout8.xml" Id="R9b0f8cf01fb34ad2" /><Relationship Type="http://schemas.openxmlformats.org/officeDocument/2006/relationships/slideLayout" Target="/ppt/slideLayouts/slideLayout9.xml" Id="R50c9a5dc77844bb5" /><Relationship Type="http://schemas.openxmlformats.org/officeDocument/2006/relationships/slideLayout" Target="/ppt/slideLayouts/slideLayout10.xml" Id="Re85ed12996654377" /><Relationship Type="http://schemas.openxmlformats.org/officeDocument/2006/relationships/slideLayout" Target="/ppt/slideLayouts/slideLayout11.xml" Id="R6588b2b474c94e3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2F18E8F-0656-964F-DEE6-366D32B6C6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8EA5C2B-B92F-E96E-E147-AE8D0E7ED6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85C2D6-66EF-7C0E-3506-CFD8E2CDEFD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91BAF6ED-130D-4DB0-9E02-0EA0EDAFEE5C}" type="datetimeFigureOut">
              <a:t>02-07-2026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8090E8-4753-464E-51E3-02EB0323BCD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16AD4EB-9D29-D693-27C7-AF481AB6430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47E3DC6C-3630-41E1-8888-AA5151DC7470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629970aa7b4bde"/>
    <p:sldLayoutId xmlns:r="http://schemas.openxmlformats.org/officeDocument/2006/relationships" id="2147483650" r:id="R2470d3d907b34b84"/>
    <p:sldLayoutId xmlns:r="http://schemas.openxmlformats.org/officeDocument/2006/relationships" id="2147483651" r:id="R5d397ee771b646bd"/>
    <p:sldLayoutId xmlns:r="http://schemas.openxmlformats.org/officeDocument/2006/relationships" id="2147483652" r:id="Rf49a1f41406f478a"/>
    <p:sldLayoutId xmlns:r="http://schemas.openxmlformats.org/officeDocument/2006/relationships" id="2147483653" r:id="R7b09f55f6c5c4a8f"/>
    <p:sldLayoutId xmlns:r="http://schemas.openxmlformats.org/officeDocument/2006/relationships" id="2147483654" r:id="R1f4f7a1a56d245dd"/>
    <p:sldLayoutId xmlns:r="http://schemas.openxmlformats.org/officeDocument/2006/relationships" id="2147483655" r:id="R8120acc3a016411d"/>
    <p:sldLayoutId xmlns:r="http://schemas.openxmlformats.org/officeDocument/2006/relationships" id="2147483656" r:id="R9b0f8cf01fb34ad2"/>
    <p:sldLayoutId xmlns:r="http://schemas.openxmlformats.org/officeDocument/2006/relationships" id="2147483657" r:id="R50c9a5dc77844bb5"/>
    <p:sldLayoutId xmlns:r="http://schemas.openxmlformats.org/officeDocument/2006/relationships" id="2147483658" r:id="Re85ed12996654377"/>
    <p:sldLayoutId xmlns:r="http://schemas.openxmlformats.org/officeDocument/2006/relationships" id="2147483659" r:id="R6588b2b474c94e3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763641344b4111" /><Relationship Type="http://schemas.openxmlformats.org/officeDocument/2006/relationships/image" Target="/ppt/media/image.jpeg" Id="Raa4715ab38664ec5" /><Relationship Type="http://schemas.openxmlformats.org/officeDocument/2006/relationships/image" Target="/ppt/media/image.png" Id="R2a6314cf10504ecb" /><Relationship Type="http://schemas.openxmlformats.org/officeDocument/2006/relationships/notesSlide" Target="/ppt/notesSlides/notesSlide1.xml" Id="R00109e2d1f3342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132e69ab2241f9" /><Relationship Type="http://schemas.openxmlformats.org/officeDocument/2006/relationships/image" Target="/ppt/media/image.png" Id="R8c8a05ae674045fe" /><Relationship Type="http://schemas.openxmlformats.org/officeDocument/2006/relationships/notesSlide" Target="/ppt/notesSlides/notesSlide2.xml" Id="Rf1ebd83fb3524d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8f87ae638541f1" /><Relationship Type="http://schemas.openxmlformats.org/officeDocument/2006/relationships/notesSlide" Target="/ppt/notesSlides/notesSlide3.xml" Id="R133c4e8db4104d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fb49e6f4064a59" /><Relationship Type="http://schemas.openxmlformats.org/officeDocument/2006/relationships/notesSlide" Target="/ppt/notesSlides/notesSlide4.xml" Id="Rf0c23c04f46747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59b48a25874683" /><Relationship Type="http://schemas.openxmlformats.org/officeDocument/2006/relationships/notesSlide" Target="/ppt/notesSlides/notesSlide5.xml" Id="R921543e2487344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43c3527f2c4d40" /><Relationship Type="http://schemas.openxmlformats.org/officeDocument/2006/relationships/notesSlide" Target="/ppt/notesSlides/notesSlide6.xml" Id="Rd6cd55a4b45a4c7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6e7178cce34019" /><Relationship Type="http://schemas.openxmlformats.org/officeDocument/2006/relationships/notesSlide" Target="/ppt/notesSlides/notesSlide7.xml" Id="R4bedf283bf9548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b552318eb0482c" /><Relationship Type="http://schemas.openxmlformats.org/officeDocument/2006/relationships/notesSlide" Target="/ppt/notesSlides/notesSlide8.xml" Id="R7300fc64a6fc4c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7bb02e54be45d1" /><Relationship Type="http://schemas.openxmlformats.org/officeDocument/2006/relationships/notesSlide" Target="/ppt/notesSlides/notesSlide9.xml" Id="R53f3b8e6de8f4fe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06ca19a8ef44a5" /><Relationship Type="http://schemas.openxmlformats.org/officeDocument/2006/relationships/notesSlide" Target="/ppt/notesSlides/notesSlide10.xml" Id="Re04534ebb4e8435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7cd30e114e4ce1" /><Relationship Type="http://schemas.openxmlformats.org/officeDocument/2006/relationships/notesSlide" Target="/ppt/notesSlides/notesSlide11.xml" Id="Raf7ff526806b49e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6151aac00d40f0" /><Relationship Type="http://schemas.openxmlformats.org/officeDocument/2006/relationships/image" Target="/ppt/media/image2.png" Id="Re404ca8b82ab4d3f" /><Relationship Type="http://schemas.openxmlformats.org/officeDocument/2006/relationships/image" Target="/ppt/media/image3.png" Id="R2837a0a46a7248e4" /><Relationship Type="http://schemas.openxmlformats.org/officeDocument/2006/relationships/notesSlide" Target="/ppt/notesSlides/notesSlide12.xml" Id="Ra726a9331fa1427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a8126f68e84226" /><Relationship Type="http://schemas.openxmlformats.org/officeDocument/2006/relationships/image" Target="/ppt/media/image4.png" Id="R199865f23d0d4e8d" /><Relationship Type="http://schemas.openxmlformats.org/officeDocument/2006/relationships/image" Target="/ppt/media/image5.png" Id="Rb794c7c4411b462a" /><Relationship Type="http://schemas.openxmlformats.org/officeDocument/2006/relationships/notesSlide" Target="/ppt/notesSlides/notesSlide13.xml" Id="R7f6303c364fc45d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2a458483654951" /><Relationship Type="http://schemas.openxmlformats.org/officeDocument/2006/relationships/notesSlide" Target="/ppt/notesSlides/notesSlide14.xml" Id="Ra4df5f61a4594f9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6bb3460c684e5d" /><Relationship Type="http://schemas.openxmlformats.org/officeDocument/2006/relationships/notesSlide" Target="/ppt/notesSlides/notesSlide15.xml" Id="Ra38c62f00a78496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0c92d9f044e70" /><Relationship Type="http://schemas.openxmlformats.org/officeDocument/2006/relationships/notesSlide" Target="/ppt/notesSlides/notesSlide16.xml" Id="R25501135769544c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E7FDD7B-DAC0-06EE-C365-1C060DC2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532" y="4767386"/>
            <a:ext cx="6190936" cy="18158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000" i="0" u="none" cap="none">
                <a:ln>
                  <a:noFill/>
                </a:ln>
                <a:solidFill>
                  <a:srgbClr val="BA2055"/>
                </a:solidFill>
                <a:latin typeface="Montserrat Bold"/>
                <a:ea typeface="Montserrat Bold"/>
                <a:cs typeface="Montserrat Bold"/>
              </a:rPr>
              <a:t/>
            </a:r>
          </a:p>
        </p:txBody>
      </p:sp>
      <p:pic>
        <p:nvPicPr>
          <p:cNvPr id="11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4715ab38664e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2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6314cf10504ecb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4094" y="754421"/>
            <a:ext cx="3602743" cy="611082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B5A7726-FFA3-9B78-F6C3-C349504A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11" y="2218925"/>
            <a:ext cx="9478100" cy="327269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lvl="0">
              <a:lnSpc>
                <a:spcPts val="4000"/>
              </a:lnSpc>
              <a:buNone/>
            </a:pPr>
            <a:r>
              <a:rPr sz="4000" b="1">
                <a:solidFill>
                  <a:srgbClr val="BA2055"/>
                </a:solidFill>
                <a:latin typeface="Montserrat"/>
                <a:ea typeface="Montserrat"/>
                <a:cs typeface="Montserrat"/>
              </a:rPr>
              <a:t>21CSA699A - Major Project</a:t>
            </a:r>
          </a:p>
          <a:p xmlns:a="http://schemas.openxmlformats.org/drawingml/2006/main">
            <a:pPr lvl="0">
              <a:lnSpc>
                <a:spcPts val="4000"/>
              </a:lnSpc>
              <a:buNone/>
            </a:pPr>
            <a:r>
              <a:t/>
            </a:r>
          </a:p>
          <a:p xmlns:a="http://schemas.openxmlformats.org/drawingml/2006/main">
            <a:pPr lvl="0">
              <a:lnSpc>
                <a:spcPts val="4000"/>
              </a:lnSpc>
              <a:buNone/>
            </a:pPr>
            <a:r>
              <a:t>DATE : July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01C551-1FA5-4010-9D10-E3CBCEBE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0"/>
            <a:ext cx="5715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250" b="1" i="0">
                <a:solidFill>
                  <a:srgbClr val="20384F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0384F"/>
                </a:solidFill>
                <a:latin typeface="Calibri"/>
                <a:ea typeface="Calibri"/>
                <a:cs typeface="Calibri"/>
              </a:rPr>
              <a:t>Advanced Game AI System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250" b="1" i="0">
                <a:solidFill>
                  <a:srgbClr val="20384F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0384F"/>
                </a:solidFill>
                <a:latin typeface="Calibri"/>
                <a:ea typeface="Calibri"/>
                <a:cs typeface="Calibri"/>
              </a:rPr>
              <a:t>using Blackboard Architecture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3024EE-B44B-4DC2-8A71-DA32D499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533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Akash Dhyani | AA.SC.U3BCA2307092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Project Guide: Deepa Sreedhar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Project Coordinator: Amrita Sindhu</a:t>
            </a:r>
          </a:p>
        </p:txBody>
      </p:sp>
    </p:spTree>
    <p:extLst>
      <p:ext uri="{BB962C8B-B14F-4D97-AF65-F5344CB8AC3E}">
        <p14:creationId xmlns:p14="http://schemas.microsoft.com/office/powerpoint/2010/main" val="33118370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E0EC285-9A8C-31C9-ECE7-DB47B5C9156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vert="horz" lIns="91440" tIns="45720" rIns="91440" bIns="45720" anchor="t">
            <a:normAutofit fontScale="97525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>Project Title: Advanced Game AI System Using Blackboard Architecture in Unity Engine</a:t>
            </a:r>
          </a:p>
          <a:p xmlns:a="http://schemas.openxmlformats.org/drawingml/2006/main">
            <a:r>
              <a:t>Student Name: Akash Dhyani</a:t>
            </a:r>
          </a:p>
          <a:p xmlns:a="http://schemas.openxmlformats.org/drawingml/2006/main">
            <a:r>
              <a:t>Register Number: AA.SC.U3BCA2307092</a:t>
            </a:r>
          </a:p>
          <a:p xmlns:a="http://schemas.openxmlformats.org/drawingml/2006/main">
            <a:r>
              <a:t>Program: Bachelors of Computer Applications</a:t>
            </a:r>
          </a:p>
          <a:p xmlns:a="http://schemas.openxmlformats.org/drawingml/2006/main">
            <a:r>
              <a:t>Semester: Final Year</a:t>
            </a:r>
          </a:p>
          <a:p xmlns:a="http://schemas.openxmlformats.org/drawingml/2006/main">
            <a:r>
              <a:t>Department &amp; Institution: Amrita Online CS</a:t>
            </a:r>
          </a:p>
          <a:p xmlns:a="http://schemas.openxmlformats.org/drawingml/2006/main">
            <a:r>
              <a:t>Project Guide: Deepa Sreedhar</a:t>
            </a:r>
          </a:p>
          <a:p xmlns:a="http://schemas.openxmlformats.org/drawingml/2006/main">
            <a:pPr marL="0" indent="0">
              <a:buNone/>
            </a:pPr>
            <a:r>
              <a:t>Project Coordinator: Amrita Sindhu</a:t>
            </a:r>
          </a:p>
        </p:txBody>
      </p:sp>
      <p:pic>
        <p:nvPicPr>
          <p:cNvPr id="6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a05ae674045f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4094" y="754421"/>
            <a:ext cx="3602743" cy="61108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907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9A2287-788A-BFB8-9118-3B8580B7E4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2D465B"/>
                </a:solidFill>
              </a:rPr>
              <a:t>Introduction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96D93AB-81A6-E81B-C195-FC83E874AC4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>Unity MOBA prototype focused on AI architecture.</a:t>
            </a:r>
          </a:p>
          <a:p xmlns:a="http://schemas.openxmlformats.org/drawingml/2006/main">
            <a:r>
              <a:t>Bots evaluate objectives, team state, map safety, and role policies.</a:t>
            </a:r>
          </a:p>
          <a:p xmlns:a="http://schemas.openxmlformats.org/drawingml/2006/main">
            <a:r>
              <a:t>Core approach: utility scoring, blackboard sharing, tactical movement, and tuning data.</a:t>
            </a:r>
          </a:p>
        </p:txBody>
      </p:sp>
    </p:spTree>
    <p:extLst>
      <p:ext uri="{BB962C8B-B14F-4D97-AF65-F5344CB8AC3E}">
        <p14:creationId xmlns:p14="http://schemas.microsoft.com/office/powerpoint/2010/main" val="217092470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1E6DF9-8986-8DE2-CDE7-2AE8D4027A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Problem Statement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341A09E-DD05-F764-1A1B-483363CDD64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611784"/>
            <a:ext cx="5213415" cy="25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ctr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ct val="0"/>
              </a:spcAft>
              <a:buNone/>
            </a:pPr>
            <a:r>
              <a:t>Problem: basic combat bots could fight,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but ignored objectives, team pressure,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map safety, and brawler identity.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Required: a scalable AI system that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is objective-aware and explainable.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FC079D-FCFE-4D79-821D-23EA567B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3862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C83232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C83232"/>
                </a:solidFill>
                <a:latin typeface="Calibri"/>
                <a:ea typeface="Calibri"/>
                <a:cs typeface="Calibri"/>
              </a:rPr>
              <a:t>Typical quick bot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E86561-B92A-4C37-9CD7-A67332F4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2386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16824A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6824A"/>
                </a:solidFill>
                <a:latin typeface="Calibri"/>
                <a:ea typeface="Calibri"/>
                <a:cs typeface="Calibri"/>
              </a:rPr>
              <a:t>MOBA Core approach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DCAA36-F459-4179-B260-848AFD60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05350"/>
            <a:ext cx="9144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C83232"/>
          </a:solidFill>
          <a:ln xmlns:a="http://schemas.openxmlformats.org/drawingml/2006/main" w="9525">
            <a:solidFill>
              <a:srgbClr val="C8323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494569-0AFB-41E8-8868-D36EDB08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0060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Nearest target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086A4-D718-4610-B3E0-929D859E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829175"/>
            <a:ext cx="2095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256836-1C2E-40F4-8F92-8DEA0E29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705350"/>
            <a:ext cx="9144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C83232"/>
          </a:solidFill>
          <a:ln xmlns:a="http://schemas.openxmlformats.org/drawingml/2006/main" w="9525">
            <a:solidFill>
              <a:srgbClr val="C8323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B6D48C-1A37-4296-92A6-D9E013FD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80060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Direct chase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668C90-FCD3-44C3-B7E4-44C72113F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829175"/>
            <a:ext cx="2095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AF8E13-C23E-42B1-9AD4-9A6CE771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705350"/>
            <a:ext cx="9144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C83232"/>
          </a:solidFill>
          <a:ln xmlns:a="http://schemas.openxmlformats.org/drawingml/2006/main" w="9525">
            <a:solidFill>
              <a:srgbClr val="C8323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B5E205-0B06-49A3-9E6C-8FFDBFF2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80060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Shoot cooldown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0869B7-F85F-48D7-9C19-17D1D5F5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829175"/>
            <a:ext cx="2095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06A8F4-1F1F-4CA1-979F-FA4575D3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705350"/>
            <a:ext cx="9144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C83232"/>
          </a:solidFill>
          <a:ln xmlns:a="http://schemas.openxmlformats.org/drawingml/2006/main" w="9525">
            <a:solidFill>
              <a:srgbClr val="C8323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86B9E9-8ABA-426D-A831-53BF2874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0060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Patch issue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B5ACA1-8A3B-4089-8303-7604FF49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705350"/>
            <a:ext cx="9906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6824A"/>
          </a:solidFill>
          <a:ln xmlns:a="http://schemas.openxmlformats.org/drawingml/2006/main" w="9525">
            <a:solidFill>
              <a:srgbClr val="1682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99A588-469A-40AC-A73E-BB5D358D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800600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Sense context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EDD63C-C64D-42F3-8E0F-5A5CFF5A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829175"/>
            <a:ext cx="2095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B5D05F-41D8-496A-A55C-D8862A7E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705350"/>
            <a:ext cx="9906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6824A"/>
          </a:solidFill>
          <a:ln xmlns:a="http://schemas.openxmlformats.org/drawingml/2006/main" w="9525">
            <a:solidFill>
              <a:srgbClr val="1682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D8D30D-D022-4A6D-8AAC-43314B50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00600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Score options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A3F0A8-C412-4AC6-AAE1-A1CB42A9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829175"/>
            <a:ext cx="2095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29672E-D111-4BDF-A6BA-B9F8FC27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05350"/>
            <a:ext cx="9906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6824A"/>
          </a:solidFill>
          <a:ln xmlns:a="http://schemas.openxmlformats.org/drawingml/2006/main" w="9525">
            <a:solidFill>
              <a:srgbClr val="1682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CB9F74-0B91-4DEE-84FD-43428D94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Commit safely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727A7E-5C10-4BFC-84B7-EDD51E51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4829175"/>
            <a:ext cx="2095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2B9227-F12D-4F25-98B6-D33B0E4A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05350"/>
            <a:ext cx="9906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6824A"/>
          </a:solidFill>
          <a:ln xmlns:a="http://schemas.openxmlformats.org/drawingml/2006/main" w="9525">
            <a:solidFill>
              <a:srgbClr val="168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645403-4032-4D5A-92BF-41A6720D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800600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Log evidence</a:t>
            </a:r>
          </a:p>
        </p:txBody>
      </p:sp>
    </p:spTree>
    <p:extLst>
      <p:ext uri="{BB962C8B-B14F-4D97-AF65-F5344CB8AC3E}">
        <p14:creationId xmlns:p14="http://schemas.microsoft.com/office/powerpoint/2010/main" val="164879504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BBA5CA-BF0D-C35C-BFC5-E40DF86A9F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Objectives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5994FAF-1324-90A1-F1EF-4D4FA562B39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73744" y="1939061"/>
            <a:ext cx="7180940" cy="30307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ctr">
            <a:spAutoFit/>
          </a:bodyPr>
          <a:lstStyle xmlns:a="http://schemas.openxmlformats.org/drawingml/2006/main"/>
          <a:p xmlns:a="http://schemas.openxmlformats.org/drawingml/2006/main">
            <a:pPr marL="228600" lvl="8">
              <a:spcBef>
                <a:spcPts val="1000"/>
              </a:spcBef>
              <a:spcAft>
                <a:spcPct val="0"/>
              </a:spcAft>
              <a:buNone/>
            </a:pPr>
            <a:r>
              <a:rPr sz="2800"/>
              <a:t>1. Build utility-based decisions.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2. Coordinate teams through blackboard data.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3. Prioritize active game-mode objectives.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4. Navigate safely around map obstacles.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5. Add role-specific tactical behavior.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6. Expose debug and validation tooling.</a:t>
            </a:r>
          </a:p>
        </p:txBody>
      </p:sp>
    </p:spTree>
    <p:extLst>
      <p:ext uri="{BB962C8B-B14F-4D97-AF65-F5344CB8AC3E}">
        <p14:creationId xmlns:p14="http://schemas.microsoft.com/office/powerpoint/2010/main" val="73079627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C90787-0DCB-8360-9D58-70095DE151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Scope of the Project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CDF972-1A64-2CF0-0270-D243F64BED8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75851" y="1690443"/>
            <a:ext cx="4942700" cy="3541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ctr">
            <a:spAutoFit/>
          </a:bodyPr>
          <a:lstStyle xmlns:a="http://schemas.openxmlformats.org/drawingml/2006/main"/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Included: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- AI decisions, team coordination, mode strategy.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- Tactical movement, navigation, and recovery.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- Role intelligence and debug visibility.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Not included: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- Online multiplayer, monetization, commercial art,</a:t>
            </a:r>
          </a:p>
          <a:p xmlns:a="http://schemas.openxmlformats.org/drawingml/2006/main">
            <a:pPr marR="0" lvl="0">
              <a:spcAft>
                <a:spcPct val="0"/>
              </a:spcAft>
              <a:buClrTx/>
              <a:buSzTx/>
              <a:buNone/>
            </a:pPr>
            <a:r>
              <a:t>  and full ML training.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D7D0C0-DA92-447A-8354-5F823CFB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572125"/>
            <a:ext cx="114300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D2A2D0-165D-4C4B-825B-8254DFB3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629275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Utility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38868-16AD-434C-977C-52C780A41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572125"/>
            <a:ext cx="12382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038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9CFDE4-1A65-42C9-AF81-BAEBCE91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629275"/>
            <a:ext cx="1085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Blackboard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A98A08-03F0-4036-8504-39F0813B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5572125"/>
            <a:ext cx="1047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682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08F1BF-7134-4581-B340-FF4ADDF2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5629275"/>
            <a:ext cx="895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A* routes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CD8EEB-E403-434B-BFD2-1147E0EF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6000750"/>
            <a:ext cx="114300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B5F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E1F7F7-D010-4200-A594-A1B5E640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605790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 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D3E0E2-D1CD-4F98-A9E7-C2C041BB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000750"/>
            <a:ext cx="12382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E86F76-D2EB-41A0-8272-64AAB8A97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6057900"/>
            <a:ext cx="1085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Role AI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A8C759-759E-483D-8749-CD0ECC9F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6000750"/>
            <a:ext cx="1047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6A36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D87926-00C4-4E4B-8696-5961CBE7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057900"/>
            <a:ext cx="895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Telemetry</a:t>
            </a:r>
          </a:p>
        </p:txBody>
      </p:sp>
    </p:spTree>
    <p:extLst>
      <p:ext uri="{BB962C8B-B14F-4D97-AF65-F5344CB8AC3E}">
        <p14:creationId xmlns:p14="http://schemas.microsoft.com/office/powerpoint/2010/main" val="34925308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A2C323-31CB-3F0A-8E22-D3BF52C516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Literature Review / Existing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CE8A93-DC8E-419B-89DF-3947EC78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The project compares common bot-authoring patterns and chooses an explainable hybrid architecture suitable for real-time games.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62EF09-25D2-4558-AC2A-588042C1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2952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AE04C3-29EC-4FEF-8FDF-1DEA6644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8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4EB44D-D5FF-4685-9F31-71978E51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907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0384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20384F"/>
                </a:solidFill>
                <a:latin typeface="Calibri"/>
                <a:ea typeface="Calibri"/>
                <a:cs typeface="Calibri"/>
              </a:rPr>
              <a:t>Finite State Machines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485A4B-8A4B-44AB-AF7E-1E28C98B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57450"/>
            <a:ext cx="2647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Clear and easy to debug, but transitions become hard to scale when objectives, hazards, roles, and teamplay interact.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DA0434-DFCC-4AB7-B4EA-5C39FD45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76450"/>
            <a:ext cx="2952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C98136-346C-4993-8FA7-33CB2AE1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764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CFD57E-7E04-4CA7-BA28-E024E7F0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907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F4A51C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4A51C"/>
                </a:solidFill>
                <a:latin typeface="Calibri"/>
                <a:ea typeface="Calibri"/>
                <a:cs typeface="Calibri"/>
              </a:rPr>
              <a:t>Behavior Trees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C3407-1FD7-45EC-9EF5-7E7F0F45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57450"/>
            <a:ext cx="2647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Useful for structured behavior, but large trees often repeat checks and can hide why one action won over another.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57AF6C-17C9-4F12-873C-57B3A5FC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76450"/>
            <a:ext cx="2952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FF7450-DA04-47E9-84A0-CF976697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764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CB91CF-1F7E-412B-A52B-0A7D1BCF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907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16824A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16824A"/>
                </a:solidFill>
                <a:latin typeface="Calibri"/>
                <a:ea typeface="Calibri"/>
                <a:cs typeface="Calibri"/>
              </a:rPr>
              <a:t>Utility AI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9E693F-1868-41D3-9F39-97659E7E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57450"/>
            <a:ext cx="2647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Actions are scored from context. This fits dynamic combat because targeting, safety, and objectives can compete numerically.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C8BFB6-52D1-4776-8AB1-DF2DD131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752850"/>
            <a:ext cx="7810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B249F6-FF51-402B-9475-85697983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752850"/>
            <a:ext cx="66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EE4953-0205-494E-AE20-90284DC0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867150"/>
            <a:ext cx="7505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01855"/>
                </a:solidFill>
                <a:latin typeface="Calibri"/>
                <a:ea typeface="Calibri"/>
                <a:cs typeface="Calibri"/>
              </a:defRPr>
            </a:pPr>
            <a:r>
              <a:rPr sz="1050" b="1" i="0">
                <a:solidFill>
                  <a:srgbClr val="C01855"/>
                </a:solidFill>
                <a:latin typeface="Calibri"/>
                <a:ea typeface="Calibri"/>
                <a:cs typeface="Calibri"/>
              </a:rPr>
              <a:t>Selected direction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AED3E7-83EC-4CFF-9E44-9E550CFF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133850"/>
            <a:ext cx="7505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40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840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Utility scoring + team blackboard + A* navigation + validation telemetry. The system remains authored, inspectable, and tunable; ML can be explored later without replacing the core.</a:t>
            </a:r>
          </a:p>
        </p:txBody>
      </p:sp>
    </p:spTree>
    <p:extLst>
      <p:ext uri="{BB962C8B-B14F-4D97-AF65-F5344CB8AC3E}">
        <p14:creationId xmlns:p14="http://schemas.microsoft.com/office/powerpoint/2010/main" val="55240705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2CB80E-F60A-9326-6528-277648B27F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CF1F66-BC38-467D-82C9-4D8E4ED3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811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63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1163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The proposed system treats every bot as a modular decision agent. Game rules, map data, tuning assets, and team state feed the same runtime pipeline.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CB889-497D-4E50-8A46-1FFC001C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146685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F8FB3"/>
          </a:solidFill>
          <a:ln xmlns:a="http://schemas.openxmlformats.org/drawingml/2006/main" w="9525">
            <a:solidFill>
              <a:srgbClr val="0F8FB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0FC473-D270-48C0-BB34-345E35E6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06AA7-17A7-4804-8179-01D51D9B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857500"/>
            <a:ext cx="146685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16824A"/>
          </a:solidFill>
          <a:ln xmlns:a="http://schemas.openxmlformats.org/drawingml/2006/main" w="9525">
            <a:solidFill>
              <a:srgbClr val="16824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EEFB82-2326-4278-AE60-E12A3C16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95275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Utility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Scoring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9A5441-5A74-4E17-800B-719ED32D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57500"/>
            <a:ext cx="146685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20384F"/>
          </a:solidFill>
          <a:ln xmlns:a="http://schemas.openxmlformats.org/drawingml/2006/main" w="9525">
            <a:solidFill>
              <a:srgbClr val="20384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9742E5-6D42-4E75-960A-8E96EEAA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95275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Team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Blackboard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3638C7-9483-4980-AD9D-8F052585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46685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C01855"/>
          </a:solidFill>
          <a:ln xmlns:a="http://schemas.openxmlformats.org/drawingml/2006/main" w="9525">
            <a:solidFill>
              <a:srgbClr val="C018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FBB525-C18C-45F7-9366-5A603D5A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5275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Strategy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1CE074-F154-4B54-9EF0-C2B5F873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57500"/>
            <a:ext cx="146685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2B5FAA"/>
          </a:solidFill>
          <a:ln xmlns:a="http://schemas.openxmlformats.org/drawingml/2006/main" w="9525">
            <a:solidFill>
              <a:srgbClr val="2B5FA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0EBB3B-2AE7-4B74-B6F0-0D9132BA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5275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Planner +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Executor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9C5DC1-45E5-4C09-9A3D-D1913108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04800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35888E-76D6-41D5-98FF-4403799BD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4800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81C076-913E-4EF1-A98E-F79F869D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E52704-F5AF-48F7-8328-01276F0C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04800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1F5D8E-D496-4EED-8C5B-72457940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29051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A7AD23-AAE0-4260-91B7-1575BF0C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36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F9831C-CFF0-4A48-A4BC-7BB2B2B8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26003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A36B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6A36BF"/>
                </a:solidFill>
                <a:latin typeface="Calibri"/>
                <a:ea typeface="Calibri"/>
                <a:cs typeface="Calibri"/>
              </a:rPr>
              <a:t>Scalable by data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0922F4-1387-41BB-9227-593D877E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81500"/>
            <a:ext cx="26003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Difficulty, personality, ability tuning, map semantics, and mode priorities are configured outside the main controller logic.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4AE304-6E3E-4544-A2DA-44322B46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00500"/>
            <a:ext cx="29051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B4D435-ABAE-4820-96B0-A76C50E8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005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F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5C69F2-1E7C-4303-8750-41927C49B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14800"/>
            <a:ext cx="26003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B5FAA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2B5FAA"/>
                </a:solidFill>
                <a:latin typeface="Calibri"/>
                <a:ea typeface="Calibri"/>
                <a:cs typeface="Calibri"/>
              </a:rPr>
              <a:t>Explainable decisions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3569FC-B8CB-495B-8E30-E558E211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81500"/>
            <a:ext cx="26003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Debug labels show current intent, target, score gap, route state, confidence rank, and recovery reason.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CECDED-DC09-4F28-97B2-4D9DE029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000500"/>
            <a:ext cx="29051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8DA2F1-272E-406A-9AD5-BF77C586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0005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CCFB2B-E881-44B3-B984-F3332B96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14800"/>
            <a:ext cx="26003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16824A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16824A"/>
                </a:solidFill>
                <a:latin typeface="Calibri"/>
                <a:ea typeface="Calibri"/>
                <a:cs typeface="Calibri"/>
              </a:rPr>
              <a:t>Production hardening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4CD89F-B0B9-464B-AE47-9672F24B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81500"/>
            <a:ext cx="26003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Lifecycle cleanup, objective fallback, budget fairness, and incident logging reduce stalls and frame spikes.</a:t>
            </a:r>
          </a:p>
        </p:txBody>
      </p:sp>
    </p:spTree>
    <p:extLst>
      <p:ext uri="{BB962C8B-B14F-4D97-AF65-F5344CB8AC3E}">
        <p14:creationId xmlns:p14="http://schemas.microsoft.com/office/powerpoint/2010/main" val="310818016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334110-8443-B520-620A-F3C4829EB9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8A888-F2FB-4D00-8849-69A82F38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4305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Runtime AI is organized as a data pipeline: each layer owns one decision responsibility, writes explainable state, and feeds the next layer.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678530-1F80-44CB-9CE4-F81436AB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131445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F8FB3"/>
          </a:solidFill>
          <a:ln xmlns:a="http://schemas.openxmlformats.org/drawingml/2006/main" w="9525">
            <a:solidFill>
              <a:srgbClr val="0F8FB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A16A8-D29A-48BB-B9DF-00A64AFB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116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World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47337B-E12E-4D63-9EF5-34E12020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52650"/>
            <a:ext cx="131445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20384F"/>
          </a:solidFill>
          <a:ln xmlns:a="http://schemas.openxmlformats.org/drawingml/2006/main" w="9525">
            <a:solidFill>
              <a:srgbClr val="20384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74839C-FDEB-4C84-975E-484E7B82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247900"/>
            <a:ext cx="116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Shared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Memory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9DC92-9BC1-4940-AD05-49583F2C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152650"/>
            <a:ext cx="131445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16824A"/>
          </a:solidFill>
          <a:ln xmlns:a="http://schemas.openxmlformats.org/drawingml/2006/main" w="9525">
            <a:solidFill>
              <a:srgbClr val="1682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E2E361-E1F5-4A73-B207-0CD6FD2F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47900"/>
            <a:ext cx="116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Utility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Scoring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578848-936D-432E-B7F3-8D20AE0B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152650"/>
            <a:ext cx="131445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6A36BF"/>
          </a:solidFill>
          <a:ln xmlns:a="http://schemas.openxmlformats.org/drawingml/2006/main" w="9525">
            <a:solidFill>
              <a:srgbClr val="6A36B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C2DD11-92BB-4B66-87CD-6A8BDCC0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247900"/>
            <a:ext cx="116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Action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Commitment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9F7799-9DD1-44AC-80C1-2A2E9C9B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52650"/>
            <a:ext cx="131445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2B5FAA"/>
          </a:solidFill>
          <a:ln xmlns:a="http://schemas.openxmlformats.org/drawingml/2006/main" w="9525">
            <a:solidFill>
              <a:srgbClr val="2B5FA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74DF33-37C3-4D23-9894-55178B52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47900"/>
            <a:ext cx="116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Planner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Navigation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ECFD3-86BC-4838-8AED-4D78D218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152650"/>
            <a:ext cx="131445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C01855"/>
          </a:solidFill>
          <a:ln xmlns:a="http://schemas.openxmlformats.org/drawingml/2006/main" w="9525">
            <a:solidFill>
              <a:srgbClr val="C018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4D99B5-33B5-424D-AAC6-4182AACA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247900"/>
            <a:ext cx="116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Command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Output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AD9D3E-54F7-4DC7-81C0-D037A53E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43150"/>
            <a:ext cx="2095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A3E527-1F13-48B6-B651-38A94D4F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343150"/>
            <a:ext cx="2095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9D8EC9-7D4E-43F3-A333-E111C158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43150"/>
            <a:ext cx="2095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791BB4-B03A-415A-9B65-469DACB5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343150"/>
            <a:ext cx="2095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6373D8-014B-4408-B5BF-6FEFA350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43150"/>
            <a:ext cx="2095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4F43BB-F8F8-40D1-A233-95DAADAE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9CE0A8-7988-475A-865C-43BEAAE7C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45BFAE-B725-4C01-82FF-5A285958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481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C01855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C01855"/>
                </a:solidFill>
                <a:latin typeface="Calibri"/>
                <a:ea typeface="Calibri"/>
                <a:cs typeface="Calibri"/>
              </a:rPr>
              <a:t>Blackboard coordination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6FAA07-2232-442E-AC72-5FE86C4A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207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Shared focus counts, ally pressure, lane claims, threat center, and objective ownership.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BF075B-0DFA-4DC5-B51D-040F34B9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515588-A336-4DB7-9FD0-185FB4E2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6FA692-E171-494A-A64C-504C2FD1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8481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16824A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16824A"/>
                </a:solidFill>
                <a:latin typeface="Calibri"/>
                <a:ea typeface="Calibri"/>
                <a:cs typeface="Calibri"/>
              </a:rPr>
              <a:t>Game-mode strategy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3A7372-4722-4F5F-AA14-AFA87568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14800"/>
            <a:ext cx="207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Objective floors keep the current win condition above generic combat preference.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F16E32-1D00-4399-84FC-011BCFB2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338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483092-A59B-4F40-AACD-CDBEFEC9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338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F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3B13E7-339B-4392-8C35-67108693E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481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B5FAA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2B5FAA"/>
                </a:solidFill>
                <a:latin typeface="Calibri"/>
                <a:ea typeface="Calibri"/>
                <a:cs typeface="Calibri"/>
              </a:rPr>
              <a:t>Navigation safety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1DFB5DE-2499-48AB-8F4A-117996E9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14800"/>
            <a:ext cx="207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A* pathing, walkable-cell validation, route budgets, and stuck recovery prevent stalls.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E92E2B-CE8B-4A53-840B-98102C33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338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CCEAA2-7D8F-415E-B5AD-07EA6108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3380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36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746EB2-909A-4BC9-803D-2834F26C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8481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A36B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6A36BF"/>
                </a:solidFill>
                <a:latin typeface="Calibri"/>
                <a:ea typeface="Calibri"/>
                <a:cs typeface="Calibri"/>
              </a:rPr>
              <a:t>Telemetry &amp; tuning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FDC8FC-2A2F-4879-8E24-065CE37E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114800"/>
            <a:ext cx="207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810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Debug gizmos, incident logs, performance tiers, and ScriptableObject presets support tuning.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A3E62B-20FF-40BA-A47D-1D3DB127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219700"/>
            <a:ext cx="8858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F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8C040E-7FCA-485E-AD81-84D867F4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21970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F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4F854E-1535-4AAC-BC01-23F2D4DA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362575"/>
            <a:ext cx="838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13" b="1" i="0">
                <a:solidFill>
                  <a:srgbClr val="20384F"/>
                </a:solidFill>
                <a:latin typeface="Calibri"/>
                <a:ea typeface="Calibri"/>
                <a:cs typeface="Calibri"/>
              </a:defRPr>
            </a:pPr>
            <a:r>
              <a:rPr sz="1013" b="1" i="0">
                <a:solidFill>
                  <a:srgbClr val="20384F"/>
                </a:solidFill>
                <a:latin typeface="Calibri"/>
                <a:ea typeface="Calibri"/>
                <a:cs typeface="Calibri"/>
              </a:rPr>
              <a:t>Industry-style design goal: explainable decisions, modular expansion, data-driven tuning, and predictable runtime cost.</a:t>
            </a:r>
          </a:p>
        </p:txBody>
      </p:sp>
    </p:spTree>
    <p:extLst>
      <p:ext uri="{BB962C8B-B14F-4D97-AF65-F5344CB8AC3E}">
        <p14:creationId xmlns:p14="http://schemas.microsoft.com/office/powerpoint/2010/main" val="243584626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253143-E5A0-C692-2071-8CB109D412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/>
              <a:t>Methodology / Algorithms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8DB76-80F1-4C93-9995-21E44036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668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Methodology focused on small, verifiable AI systems: implement one behavior layer, expose debug evidence, playtest it, then tune the scoring data.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EA193C-13FA-4934-ABE0-D20F37C8C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2476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4B7E49-0379-4165-A1A3-A244CAAC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5F9C9C-74D5-4DB1-99C1-A6634E0E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171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15" b="1" i="0">
                <a:solidFill>
                  <a:srgbClr val="16824A"/>
                </a:solidFill>
                <a:latin typeface="Calibri"/>
                <a:ea typeface="Calibri"/>
                <a:cs typeface="Calibri"/>
              </a:defRPr>
            </a:pPr>
            <a:r>
              <a:rPr sz="915" b="1" i="0">
                <a:solidFill>
                  <a:srgbClr val="16824A"/>
                </a:solidFill>
                <a:latin typeface="Calibri"/>
                <a:ea typeface="Calibri"/>
                <a:cs typeface="Calibri"/>
              </a:rPr>
              <a:t>Utility scoring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82D6B7-CD96-41EB-A1B1-D95B169A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217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Scores actions from objective value, target value, range, safety, team pressure, and risk.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E3A1F3-3DE5-4A08-945B-440A04BE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038350"/>
            <a:ext cx="2476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D35CDF-D9E9-408D-B13D-546AF8BA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0383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F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22ABF1-8D1E-42AD-917B-BDA2F5E2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152650"/>
            <a:ext cx="2171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15" b="1" i="0">
                <a:solidFill>
                  <a:srgbClr val="2B5FAA"/>
                </a:solidFill>
                <a:latin typeface="Calibri"/>
                <a:ea typeface="Calibri"/>
                <a:cs typeface="Calibri"/>
              </a:defRPr>
            </a:pPr>
            <a:r>
              <a:rPr sz="915" b="1" i="0">
                <a:solidFill>
                  <a:srgbClr val="2B5FAA"/>
                </a:solidFill>
                <a:latin typeface="Calibri"/>
                <a:ea typeface="Calibri"/>
                <a:cs typeface="Calibri"/>
              </a:rPr>
              <a:t>A* grid routing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F43A08-7868-48D5-ADB5-8248082F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419350"/>
            <a:ext cx="217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Builds walkable-cell paths around obstacles with fallback goals and route budgets.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44B5D8-C9CF-46B3-BC4F-AED1B6AE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2476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331A6E-9E12-4EDB-9D67-79FC8B4EF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F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FA8983-6C7D-4EB9-AE7B-608B9290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52650"/>
            <a:ext cx="2171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15" b="1" i="0">
                <a:solidFill>
                  <a:srgbClr val="0F8FB3"/>
                </a:solidFill>
                <a:latin typeface="Calibri"/>
                <a:ea typeface="Calibri"/>
                <a:cs typeface="Calibri"/>
              </a:defRPr>
            </a:pPr>
            <a:r>
              <a:rPr sz="915" b="1" i="0">
                <a:solidFill>
                  <a:srgbClr val="0F8FB3"/>
                </a:solidFill>
                <a:latin typeface="Calibri"/>
                <a:ea typeface="Calibri"/>
                <a:cs typeface="Calibri"/>
              </a:rPr>
              <a:t>Spatial queries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D97356-FB28-4A38-A2C0-319F021D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19350"/>
            <a:ext cx="217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Detects nearby targets, gems, hazards, line-of-fire, bush proximity, and area effects.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6E64AE-A30C-45BB-9162-B3A02B60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038350"/>
            <a:ext cx="2476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473807-8567-4143-8821-4F3F81A5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0383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8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879147-BF7F-4D61-89BF-DC3473C6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152650"/>
            <a:ext cx="2171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15" b="1" i="0">
                <a:solidFill>
                  <a:srgbClr val="20384F"/>
                </a:solidFill>
                <a:latin typeface="Calibri"/>
                <a:ea typeface="Calibri"/>
                <a:cs typeface="Calibri"/>
              </a:defRPr>
            </a:pPr>
            <a:r>
              <a:rPr sz="915" b="1" i="0">
                <a:solidFill>
                  <a:srgbClr val="20384F"/>
                </a:solidFill>
                <a:latin typeface="Calibri"/>
                <a:ea typeface="Calibri"/>
                <a:cs typeface="Calibri"/>
              </a:rPr>
              <a:t>Blackboard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5536B6-62A2-4A99-B1C8-FCA3A69B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419350"/>
            <a:ext cx="217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Stores shared team knowledge such as focus counts, lanes, carriers, and threat centers.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F16786-C07E-481D-A138-B88B71EC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2476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5A6AD1-9226-4DAF-97F6-007E3B3C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36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5AD8B9-BC73-4E67-9EB9-E7A8C23EA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171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15" b="1" i="0">
                <a:solidFill>
                  <a:srgbClr val="6A36BF"/>
                </a:solidFill>
                <a:latin typeface="Calibri"/>
                <a:ea typeface="Calibri"/>
                <a:cs typeface="Calibri"/>
              </a:defRPr>
            </a:pPr>
            <a:r>
              <a:rPr sz="915" b="1" i="0">
                <a:solidFill>
                  <a:srgbClr val="6A36BF"/>
                </a:solidFill>
                <a:latin typeface="Calibri"/>
                <a:ea typeface="Calibri"/>
                <a:cs typeface="Calibri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C33591-EC8D-4837-BE04-48E7839A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217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Keeps actions stable long enough to avoid visible flicker and rapid direction changes.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D18B9F-8011-4BE6-861F-19661485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295650"/>
            <a:ext cx="2476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1000ED-DCAA-4901-A89E-527AE3B0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2956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6EFB20-DCCB-4156-892D-7664F23D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409950"/>
            <a:ext cx="2171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15" b="1" i="0">
                <a:solidFill>
                  <a:srgbClr val="C01855"/>
                </a:solidFill>
                <a:latin typeface="Calibri"/>
                <a:ea typeface="Calibri"/>
                <a:cs typeface="Calibri"/>
              </a:defRPr>
            </a:pPr>
            <a:r>
              <a:rPr sz="915" b="1" i="0">
                <a:solidFill>
                  <a:srgbClr val="C01855"/>
                </a:solidFill>
                <a:latin typeface="Calibri"/>
                <a:ea typeface="Calibri"/>
                <a:cs typeface="Calibri"/>
              </a:rPr>
              <a:t>Mode strategy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F7C491-A0E6-40B1-84D2-9676F567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676650"/>
            <a:ext cx="217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Adds objective floors for Gem Grab, Knockout, Brawl Ball, and Solo Showdown.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BE7F30-A991-48DB-8063-665C4833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95650"/>
            <a:ext cx="2476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08E54A-1759-4CEE-96EE-68227DAC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956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2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ED555F-6AAB-4814-AC2A-35519471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09950"/>
            <a:ext cx="2171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15" b="1" i="0">
                <a:solidFill>
                  <a:srgbClr val="C83232"/>
                </a:solidFill>
                <a:latin typeface="Calibri"/>
                <a:ea typeface="Calibri"/>
                <a:cs typeface="Calibri"/>
              </a:defRPr>
            </a:pPr>
            <a:r>
              <a:rPr sz="915" b="1" i="0">
                <a:solidFill>
                  <a:srgbClr val="C83232"/>
                </a:solidFill>
                <a:latin typeface="Calibri"/>
                <a:ea typeface="Calibri"/>
                <a:cs typeface="Calibri"/>
              </a:rPr>
              <a:t>Failure recovery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F3C3B0-DA68-44B2-86C3-953B70A1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76650"/>
            <a:ext cx="217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Detects stalls, stale commands, blocked routes, and repeated failed casts.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F75E80-8A48-4DE4-B8AF-117FC613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3295650"/>
            <a:ext cx="2476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CE8DFE-2531-431C-9F73-9A480215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32956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027353-CF8B-4024-AA0D-ECE76A83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409950"/>
            <a:ext cx="2171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15" b="1" i="0">
                <a:solidFill>
                  <a:srgbClr val="F4A51C"/>
                </a:solidFill>
                <a:latin typeface="Calibri"/>
                <a:ea typeface="Calibri"/>
                <a:cs typeface="Calibri"/>
              </a:defRPr>
            </a:pPr>
            <a:r>
              <a:rPr sz="915" b="1" i="0">
                <a:solidFill>
                  <a:srgbClr val="F4A51C"/>
                </a:solidFill>
                <a:latin typeface="Calibri"/>
                <a:ea typeface="Calibri"/>
                <a:cs typeface="Calibri"/>
              </a:rPr>
              <a:t>Tuning assets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5FD27E-9816-44CF-A5E4-C24F4920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676650"/>
            <a:ext cx="217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743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ScriptableObject-style presets adjust difficulty, personality, and role behavior without rewriting code.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776C40F-3A6C-47E6-86C2-C4CBA69D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10200"/>
            <a:ext cx="876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C01855"/>
          </a:solidFill>
          <a:ln xmlns:a="http://schemas.openxmlformats.org/drawingml/2006/main" w="9525">
            <a:solidFill>
              <a:srgbClr val="C0185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300FEE3-1072-40F7-8200-C4F62F26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5054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Sense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EF1B6E-C29E-4575-9A3E-E7BBBC29C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505450"/>
            <a:ext cx="228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B29D62-E6AD-4ECA-A718-7B1E1434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410200"/>
            <a:ext cx="876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20384F"/>
          </a:solidFill>
          <a:ln xmlns:a="http://schemas.openxmlformats.org/drawingml/2006/main" w="9525">
            <a:solidFill>
              <a:srgbClr val="20384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38C7BEB-AF26-4A77-BBC8-145A8C1A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5054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0CC13B5-12D0-4DE0-91C4-61997D10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505450"/>
            <a:ext cx="228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CAB24A7-A4EF-4BED-8B27-0760A8F5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410200"/>
            <a:ext cx="876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C01855"/>
          </a:solidFill>
          <a:ln xmlns:a="http://schemas.openxmlformats.org/drawingml/2006/main" w="9525">
            <a:solidFill>
              <a:srgbClr val="C01855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7DA7D1E-8692-4F44-B1E9-AB0C79B0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5054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Share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F2DD3D3-45FB-402C-B926-1E1DFF19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505450"/>
            <a:ext cx="228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EDFB915-D025-4766-A1B9-A4985F99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410200"/>
            <a:ext cx="876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20384F"/>
          </a:solidFill>
          <a:ln xmlns:a="http://schemas.openxmlformats.org/drawingml/2006/main" w="9525">
            <a:solidFill>
              <a:srgbClr val="20384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6E1E462-1341-4D86-9C13-83C045FA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054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Commit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ECDBA00-BD65-4A23-AFBA-3338B1B8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505450"/>
            <a:ext cx="228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31D98D-F711-4BA5-B6B8-6298D03D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410200"/>
            <a:ext cx="876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C01855"/>
          </a:solidFill>
          <a:ln xmlns:a="http://schemas.openxmlformats.org/drawingml/2006/main" w="9525">
            <a:solidFill>
              <a:srgbClr val="C01855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C6635AC-5925-4195-9758-35D673EC3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5054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F3FB155-11AD-4DF8-9022-D6C93439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505450"/>
            <a:ext cx="228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BA098EF-FDA5-47D7-826B-BC5482E9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410200"/>
            <a:ext cx="876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20384F"/>
          </a:solidFill>
          <a:ln xmlns:a="http://schemas.openxmlformats.org/drawingml/2006/main" w="9525">
            <a:solidFill>
              <a:srgbClr val="20384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DB92A5F-B72D-4DEF-AB42-2F91700A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5054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</p:spTree>
    <p:extLst>
      <p:ext uri="{BB962C8B-B14F-4D97-AF65-F5344CB8AC3E}">
        <p14:creationId xmlns:p14="http://schemas.microsoft.com/office/powerpoint/2010/main" val="14783097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F10A95-05EF-E3B9-D47B-4D7A2F902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/>
              <a:t>Implementation Details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C4668A-E75F-44B2-9B95-4AF16EC0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8590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Representative code patterns from the implementation show the AI architecture in practical software terms: score, share state, route safely, and enforce mode objectives.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9B70B8-9EC1-45B6-B075-D73485BD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C91218-9997-47ED-9710-DCF9AB2F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161AD9-88D2-4A74-BEF1-1FCF8A5D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47900"/>
            <a:ext cx="461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8CE6B5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8CE6B5"/>
                </a:solidFill>
                <a:latin typeface="Calibri"/>
                <a:ea typeface="Calibri"/>
                <a:cs typeface="Calibri"/>
              </a:rPr>
              <a:t>Utility score contract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6CF09F-27E6-4E8D-9CEE-A5131B75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33650"/>
            <a:ext cx="4610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float score = baseScore + objective + safety - risk;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score -= teamFocus * focusPenalty;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return Mathf.Clamp(score, 0f, 100f);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90E228-0A07-472A-967A-9C3E511C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3360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3AAFDF-F1A2-4263-B67D-F80FB4E4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336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6A4327-9B6E-4CC3-A734-EB1EB3BF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47900"/>
            <a:ext cx="461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8CE6B5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8CE6B5"/>
                </a:solidFill>
                <a:latin typeface="Calibri"/>
                <a:ea typeface="Calibri"/>
                <a:cs typeface="Calibri"/>
              </a:rPr>
              <a:t>Team blackboard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9B7209-59BD-476D-8661-751493BC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33650"/>
            <a:ext cx="4610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blackboard.ReportIntent(selfId, targetId, objectiveId);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focusCount = blackboard.GetFocusCount(targetId);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allyPressure = blackboard.GetObjectivePressure(slotId);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C2C146-F96F-4F14-8D33-306A6AD4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4953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A7F922-9561-48C0-A9A0-CA50B1F9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94700C-EF63-4A53-AE99-9FFD4E9B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48100"/>
            <a:ext cx="461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8CE6B5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8CE6B5"/>
                </a:solidFill>
                <a:latin typeface="Calibri"/>
                <a:ea typeface="Calibri"/>
                <a:cs typeface="Calibri"/>
              </a:rPr>
              <a:t>Navigation liveness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6ABCF9-A79F-4412-A1AB-35A6AFEA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4610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if (!nav.TryBuildPath(start, goal, out path))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 goal = nav.FindNearbyWalkable(goal);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if (watchdog.IsStalled(self))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 planner.AbandonDestination();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9DD5E8-6954-4A5C-B48D-B1E2DC84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4953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7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78901C-7A55-4D09-A1BC-88747E31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A80043-3965-4166-8AA3-7B95007D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48100"/>
            <a:ext cx="461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8CE6B5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8CE6B5"/>
                </a:solidFill>
                <a:latin typeface="Calibri"/>
                <a:ea typeface="Calibri"/>
                <a:cs typeface="Calibri"/>
              </a:rPr>
              <a:t>Game-mode objective floor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FE057D-56F2-4F82-A407-DBBD674F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33850"/>
            <a:ext cx="4610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objectiveFloor = mode switch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 GemGrab =&gt; ScoreGemIntent(state),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 BrawlBall =&gt; ScoreBallIntent(state),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 Knockout =&gt; ScoreSurvivalPressure(state),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};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795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score = Mathf.Max(score, objectiveFloor);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A08F4B-3008-45D3-BC83-087C8DD2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10200"/>
            <a:ext cx="8096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64B109-921A-488B-B24B-7F3224E5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1020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4FC88E-AD78-4545-B167-9CE6D2CD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524500"/>
            <a:ext cx="779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38" b="1" i="0">
                <a:solidFill>
                  <a:srgbClr val="F4A51C"/>
                </a:solidFill>
                <a:latin typeface="Calibri"/>
                <a:ea typeface="Calibri"/>
                <a:cs typeface="Calibri"/>
              </a:defRPr>
            </a:pPr>
            <a:r>
              <a:rPr sz="938" b="1" i="0">
                <a:solidFill>
                  <a:srgbClr val="F4A51C"/>
                </a:solidFill>
                <a:latin typeface="Calibri"/>
                <a:ea typeface="Calibri"/>
                <a:cs typeface="Calibri"/>
              </a:rPr>
              <a:t>Software architecture takeaway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764292-BC1B-4F55-A931-A20A1B919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791200"/>
            <a:ext cx="779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73" b="0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773" b="0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The code avoids one large bot script. Each module has a narrow responsibility, which makes the system testable, explainable, and easier to extend for new modes.</a:t>
            </a:r>
          </a:p>
        </p:txBody>
      </p:sp>
    </p:spTree>
    <p:extLst>
      <p:ext uri="{BB962C8B-B14F-4D97-AF65-F5344CB8AC3E}">
        <p14:creationId xmlns:p14="http://schemas.microsoft.com/office/powerpoint/2010/main" val="249623223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CA22B5-DAD9-4F3C-2CB3-1BE85FFBE7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/>
              <a:t>Results &amp; Output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59F14F-40C0-7C1E-F555-AA444C8104B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>Sample playable outputs: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4ca8b82ab4d3f"/>
          <a:srcRect xmlns:a="http://schemas.openxmlformats.org/drawingml/2006/main" l="0" t="2654" r="0" b="26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1600200"/>
            <a:ext cx="514350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7E2E1-B0E8-4E45-BD8D-13FB23D7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143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384F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7a0a46a7248e4"/>
          <a:srcRect xmlns:a="http://schemas.openxmlformats.org/drawingml/2006/main" l="6422" t="0" r="64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1600200"/>
            <a:ext cx="5143500" cy="2952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4CD4D8-0E5D-407D-8663-7D2AB0C6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00200"/>
            <a:ext cx="5143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384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787AAA-43F1-498B-8491-67C678A8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5143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37A347-E926-4CE9-BAB0-80B01106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3A260E-9873-4D32-8374-D6DCB24F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577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Gem Grab now exposes countdown pressure, gem counts, objective area control, and tactical combat context.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C8BC1B-E606-4E8F-9FAC-4E3860CF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62500"/>
            <a:ext cx="5143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F8943-24A2-47A9-823F-781373FA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6250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98B565-0647-4134-8897-4D1F87FA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8577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Match result UI records kills, damage, assists, gems, rating, winner, and star player for validation.</a:t>
            </a:r>
          </a:p>
        </p:txBody>
      </p:sp>
    </p:spTree>
    <p:extLst>
      <p:ext uri="{BB962C8B-B14F-4D97-AF65-F5344CB8AC3E}">
        <p14:creationId xmlns:p14="http://schemas.microsoft.com/office/powerpoint/2010/main" val="346996697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A080EE-5896-4830-6EE7-ED6C02C69C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/>
              <a:t>Testing &amp;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0EC7F1-5CF5-49C3-8CBB-3DA7D2A4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14500"/>
            <a:ext cx="962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Validation combines Unity playtests with live AI telemetry so each movement, target, route, and objective choice can be inspected.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9865f23d0d4e8d"/>
          <a:srcRect xmlns:a="http://schemas.openxmlformats.org/drawingml/2006/main" l="6825" t="0" r="68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2095500"/>
            <a:ext cx="514350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5C582C-587C-4798-8B3D-D7A193BE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143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384F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94c7c4411b462a"/>
          <a:srcRect xmlns:a="http://schemas.openxmlformats.org/drawingml/2006/main" l="1204" t="0" r="120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095500"/>
            <a:ext cx="5143500" cy="2952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1E467A-797A-4E5D-9DE4-B38F615F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5143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0384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3EE1A3-1BFC-4F81-BCF3-7FE6147BE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38750"/>
            <a:ext cx="676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A9798A-C25F-4161-AFF7-2EB11FA5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38750"/>
            <a:ext cx="666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F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EF0BDE-E9DB-4763-B96B-60FFE454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5334000"/>
            <a:ext cx="649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444444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Debug overlay: action, intent, role, tier, target, confidence, path length, stuck count, and map rays.</a:t>
            </a:r>
          </a:p>
        </p:txBody>
      </p:sp>
    </p:spTree>
    <p:extLst>
      <p:ext uri="{BB962C8B-B14F-4D97-AF65-F5344CB8AC3E}">
        <p14:creationId xmlns:p14="http://schemas.microsoft.com/office/powerpoint/2010/main" val="265344291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1C7E16-2757-A296-F309-9E78C21EC0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/>
              <a:t>Conclusion and Future enhancements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A4CA5F-3825-43B1-8249-1C56849F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2625"/>
            <a:ext cx="2952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C6EFA5-6235-4D2A-8722-79680C5A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2625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18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91E60D-5B09-4776-ACCC-E1060E9F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09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C01855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C01855"/>
                </a:solidFill>
                <a:latin typeface="Calibri"/>
                <a:ea typeface="Calibri"/>
                <a:cs typeface="Calibri"/>
              </a:rPr>
              <a:t>Conclusion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B73EC0-E68F-41B0-971F-C99D1B72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24150"/>
            <a:ext cx="228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63" b="0" i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163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Layered, objective-aware AI for a Unity real-time game prototype.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D3351-A72D-43CA-B3C3-B45DBCCC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52625"/>
            <a:ext cx="2952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EF7F9B-10F1-4646-9EE6-3D026179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52625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2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68133-A19A-425F-9422-740D7B8A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09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6824A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16824A"/>
                </a:solidFill>
                <a:latin typeface="Calibri"/>
                <a:ea typeface="Calibri"/>
                <a:cs typeface="Calibri"/>
              </a:rPr>
              <a:t>Achievements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5A1B41-2D79-4424-B859-27F01931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724150"/>
            <a:ext cx="2286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63" b="0" i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163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Utility scoring, team blackboard, role policies, navigation recovery, and debug telemetry.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98019A-472A-433D-B87E-308F960A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52625"/>
            <a:ext cx="2952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DD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91F21B-DDD8-4AD9-A53A-B79C52BF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52625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F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4ACDD0-A1B4-4F84-BE75-4DF1A485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09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B5FAA"/>
                </a:solidFill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2B5FAA"/>
                </a:solidFill>
                <a:latin typeface="Calibri"/>
                <a:ea typeface="Calibri"/>
                <a:cs typeface="Calibri"/>
              </a:rPr>
              <a:t>Future 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407025-2856-4402-9E60-CB7B30B8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24150"/>
            <a:ext cx="2286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63" b="0" i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163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Automated gauntlets, richer semantic maps, broader role packs, and optional ML experiments.</a:t>
            </a:r>
          </a:p>
        </p:txBody>
      </p:sp>
    </p:spTree>
    <p:extLst>
      <p:ext uri="{BB962C8B-B14F-4D97-AF65-F5344CB8AC3E}">
        <p14:creationId xmlns:p14="http://schemas.microsoft.com/office/powerpoint/2010/main" val="296230930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1544FE-3490-894C-BA34-BEE92A63CA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/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216F91-3D13-4DD0-942D-A15EBCFC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97155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Akash Dhyani, Advanced Game AI System using Blackboard Architecture in Unity Engine, proposal, interim report, and final report, 2026.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Ian Millington and John Funge, Artificial Intelligence for Games.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Georgios N. Yannakakis and Julian Togelius, Artificial Intelligence and Games.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4. Hart, Nilsson, and Raphael, A Formal Basis for the Heuristic Determination of Minimum Cost Paths, 1968.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5. Unity documentation: ScriptableObject workflow, gameplay architecture, and Unity AI / ML-Agents concepts.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6. Project source code: AI scoring, blackboard, navigation, mode strategy, role intelligence, and debug telemetry.</a:t>
            </a:r>
          </a:p>
        </p:txBody>
      </p:sp>
    </p:spTree>
    <p:extLst>
      <p:ext uri="{BB962C8B-B14F-4D97-AF65-F5344CB8AC3E}">
        <p14:creationId xmlns:p14="http://schemas.microsoft.com/office/powerpoint/2010/main" val="235296119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Google Shape;273;p45">
            <a:extLst xmlns:a="http://schemas.openxmlformats.org/drawingml/2006/main">
              <a:ext uri="{FF2B5EF4-FFF2-40B4-BE49-F238E27FC236}">
                <a16:creationId xmlns:a16="http://schemas.microsoft.com/office/drawing/2014/main" id="{F119F7B5-8996-74D0-D675-B3E830E5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114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" name="Google Shape;275;p45">
            <a:extLst xmlns:a="http://schemas.openxmlformats.org/drawingml/2006/main">
              <a:ext uri="{FF2B5EF4-FFF2-40B4-BE49-F238E27FC236}">
                <a16:creationId xmlns:a16="http://schemas.microsoft.com/office/drawing/2014/main" id="{288AC0D7-D3B1-C33A-F770-AD6D41F3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4226" y="2437949"/>
            <a:ext cx="7843548" cy="1958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0" b="1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THANK YOU</a:t>
            </a:r>
          </a:p>
        </p:txBody>
      </p:sp>
      <p:sp>
        <p:nvSpPr>
          <p:cNvPr id="6" name="Google Shape;256;p43">
            <a:extLst xmlns:a="http://schemas.openxmlformats.org/drawingml/2006/main">
              <a:ext uri="{FF2B5EF4-FFF2-40B4-BE49-F238E27FC236}">
                <a16:creationId xmlns:a16="http://schemas.microsoft.com/office/drawing/2014/main" id="{98AF74DC-B04C-13C6-06C9-9F38C088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900" y="4242087"/>
            <a:ext cx="2926200" cy="400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89874810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2026-07-31T13:30:16.7580000Z</dcterms:created>
  <dcterms:modified xsi:type="dcterms:W3CDTF">2026-07-31T13:30:16.7580000Z</dcterms:modified>
</coreProperties>
</file>
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bd44df4a141d9" /><Relationship Type="http://schemas.openxmlformats.org/officeDocument/2006/relationships/extended-properties" Target="/docProps/app.xml" Id="Rd52ecfe7c6884f78" /><Relationship Type="http://schemas.openxmlformats.org/officeDocument/2006/relationships/officeDocument" Target="/ppt/presentation.xml" Id="R76e506fa356c44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07130aef44bf4"/>
  </p:sldMasterIdLst>
  <p:notesMasterIdLst>
    <p:notesMasterId xmlns:r="http://schemas.openxmlformats.org/officeDocument/2006/relationships" r:id="Rca21daf82f0041c5"/>
  </p:notesMasterIdLst>
  <p:sldIdLst>
    <p:sldId xmlns:r="http://schemas.openxmlformats.org/officeDocument/2006/relationships" id="256" r:id="Rbb323f591c2a462e"/>
    <p:sldId xmlns:r="http://schemas.openxmlformats.org/officeDocument/2006/relationships" id="257" r:id="Rdcb05bdf3d814d40"/>
    <p:sldId xmlns:r="http://schemas.openxmlformats.org/officeDocument/2006/relationships" id="258" r:id="R9852c131284444fa"/>
    <p:sldId xmlns:r="http://schemas.openxmlformats.org/officeDocument/2006/relationships" id="259" r:id="Rfe0acb26db964372"/>
    <p:sldId xmlns:r="http://schemas.openxmlformats.org/officeDocument/2006/relationships" id="260" r:id="R1abb5980173e4b65"/>
    <p:sldId xmlns:r="http://schemas.openxmlformats.org/officeDocument/2006/relationships" id="261" r:id="Re616a5e9e21d4b26"/>
    <p:sldId xmlns:r="http://schemas.openxmlformats.org/officeDocument/2006/relationships" id="262" r:id="R285554dfd6ca4ee6"/>
    <p:sldId xmlns:r="http://schemas.openxmlformats.org/officeDocument/2006/relationships" id="263" r:id="R25aa4110eb3f4ed7"/>
    <p:sldId xmlns:r="http://schemas.openxmlformats.org/officeDocument/2006/relationships" id="264" r:id="R6c96328473e4452d"/>
    <p:sldId xmlns:r="http://schemas.openxmlformats.org/officeDocument/2006/relationships" id="265" r:id="R3a76af28fe234fa0"/>
    <p:sldId xmlns:r="http://schemas.openxmlformats.org/officeDocument/2006/relationships" id="266" r:id="R286a8c2dae0d4cb4"/>
    <p:sldId xmlns:r="http://schemas.openxmlformats.org/officeDocument/2006/relationships" id="267" r:id="Rebc4c5b376b5464b"/>
    <p:sldId xmlns:r="http://schemas.openxmlformats.org/officeDocument/2006/relationships" id="268" r:id="R07f7094e6e4d4820"/>
    <p:sldId xmlns:r="http://schemas.openxmlformats.org/officeDocument/2006/relationships" id="269" r:id="R4eaeb14df0e44db8"/>
    <p:sldId xmlns:r="http://schemas.openxmlformats.org/officeDocument/2006/relationships" id="270" r:id="Rce79e0cb66ac4937"/>
    <p:sldId xmlns:r="http://schemas.openxmlformats.org/officeDocument/2006/relationships" id="271" r:id="Ra5cdd4edcaac48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5b68ab16584874" /><Relationship Type="http://schemas.openxmlformats.org/officeDocument/2006/relationships/slideMaster" Target="/ppt/slideMasters/slideMaster1.xml" Id="R9ab07130aef44bf4" /><Relationship Type="http://schemas.openxmlformats.org/officeDocument/2006/relationships/notesMaster" Target="/ppt/notesMasters/notesMaster1.xml" Id="Rca21daf82f0041c5" /><Relationship Type="http://schemas.openxmlformats.org/officeDocument/2006/relationships/presProps" Target="/ppt/presProps.xml" Id="R38de340ac941479d" /><Relationship Type="http://schemas.openxmlformats.org/officeDocument/2006/relationships/viewProps" Target="/ppt/viewProps.xml" Id="R95d9f46eddc54d90" /><Relationship Type="http://schemas.openxmlformats.org/officeDocument/2006/relationships/tableStyles" Target="/ppt/tableStyles.xml" Id="R2e61fb45221b47a1" /><Relationship Type="http://schemas.openxmlformats.org/officeDocument/2006/relationships/slide" Target="/ppt/slides/slide1.xml" Id="Rbb323f591c2a462e" /><Relationship Type="http://schemas.openxmlformats.org/officeDocument/2006/relationships/slide" Target="/ppt/slides/slide2.xml" Id="Rdcb05bdf3d814d40" /><Relationship Type="http://schemas.openxmlformats.org/officeDocument/2006/relationships/slide" Target="/ppt/slides/slide3.xml" Id="R9852c131284444fa" /><Relationship Type="http://schemas.openxmlformats.org/officeDocument/2006/relationships/slide" Target="/ppt/slides/slide4.xml" Id="Rfe0acb26db964372" /><Relationship Type="http://schemas.openxmlformats.org/officeDocument/2006/relationships/slide" Target="/ppt/slides/slide5.xml" Id="R1abb5980173e4b65" /><Relationship Type="http://schemas.openxmlformats.org/officeDocument/2006/relationships/slide" Target="/ppt/slides/slide6.xml" Id="Re616a5e9e21d4b26" /><Relationship Type="http://schemas.openxmlformats.org/officeDocument/2006/relationships/slide" Target="/ppt/slides/slide7.xml" Id="R285554dfd6ca4ee6" /><Relationship Type="http://schemas.openxmlformats.org/officeDocument/2006/relationships/slide" Target="/ppt/slides/slide8.xml" Id="R25aa4110eb3f4ed7" /><Relationship Type="http://schemas.openxmlformats.org/officeDocument/2006/relationships/slide" Target="/ppt/slides/slide9.xml" Id="R6c96328473e4452d" /><Relationship Type="http://schemas.openxmlformats.org/officeDocument/2006/relationships/slide" Target="/ppt/slides/slide10.xml" Id="R3a76af28fe234fa0" /><Relationship Type="http://schemas.openxmlformats.org/officeDocument/2006/relationships/slide" Target="/ppt/slides/slide11.xml" Id="R286a8c2dae0d4cb4" /><Relationship Type="http://schemas.openxmlformats.org/officeDocument/2006/relationships/slide" Target="/ppt/slides/slide12.xml" Id="Rebc4c5b376b5464b" /><Relationship Type="http://schemas.openxmlformats.org/officeDocument/2006/relationships/slide" Target="/ppt/slides/slide13.xml" Id="R07f7094e6e4d4820" /><Relationship Type="http://schemas.openxmlformats.org/officeDocument/2006/relationships/slide" Target="/ppt/slides/slide14.xml" Id="R4eaeb14df0e44db8" /><Relationship Type="http://schemas.openxmlformats.org/officeDocument/2006/relationships/slide" Target="/ppt/slides/slide15.xml" Id="Rce79e0cb66ac4937" /><Relationship Type="http://schemas.openxmlformats.org/officeDocument/2006/relationships/slide" Target="/ppt/slides/slide16.xml" Id="Ra5cdd4edcaac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d4a44e81c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bab1c6e074a5d" /><Relationship Type="http://schemas.openxmlformats.org/officeDocument/2006/relationships/notesMaster" Target="/ppt/notesMasters/notesMaster1.xml" Id="R50c7e6295fc841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56e2234d4a4586" /><Relationship Type="http://schemas.openxmlformats.org/officeDocument/2006/relationships/notesMaster" Target="/ppt/notesMasters/notesMaster1.xml" Id="R9e3eb62efbef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b25438e394da3" /><Relationship Type="http://schemas.openxmlformats.org/officeDocument/2006/relationships/notesMaster" Target="/ppt/notesMasters/notesMaster1.xml" Id="Rd4b2a0ff090a47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0411b29bb4a69" /><Relationship Type="http://schemas.openxmlformats.org/officeDocument/2006/relationships/notesMaster" Target="/ppt/notesMasters/notesMaster1.xml" Id="Reb374affc09d4f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3ade638e2450f" /><Relationship Type="http://schemas.openxmlformats.org/officeDocument/2006/relationships/notesMaster" Target="/ppt/notesMasters/notesMaster1.xml" Id="Rfcef6ddeb7eb49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cf96428504df5" /><Relationship Type="http://schemas.openxmlformats.org/officeDocument/2006/relationships/notesMaster" Target="/ppt/notesMasters/notesMaster1.xml" Id="Re1b3690cebb945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2386e408cc4cf4" /><Relationship Type="http://schemas.openxmlformats.org/officeDocument/2006/relationships/notesMaster" Target="/ppt/notesMasters/notesMaster1.xml" Id="R01b1d6acd1564a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94f71e241d437e" /><Relationship Type="http://schemas.openxmlformats.org/officeDocument/2006/relationships/notesMaster" Target="/ppt/notesMasters/notesMaster1.xml" Id="Rddc122f5c7c746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0721f7e24f4e20" /><Relationship Type="http://schemas.openxmlformats.org/officeDocument/2006/relationships/notesMaster" Target="/ppt/notesMasters/notesMaster1.xml" Id="R205a536cf64a42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d11699bb534824" /><Relationship Type="http://schemas.openxmlformats.org/officeDocument/2006/relationships/notesMaster" Target="/ppt/notesMasters/notesMaster1.xml" Id="R7164d979c3b043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e363635e1e43f4" /><Relationship Type="http://schemas.openxmlformats.org/officeDocument/2006/relationships/notesMaster" Target="/ppt/notesMasters/notesMaster1.xml" Id="Rc33f5745a00941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d1f35fb1474e0c" /><Relationship Type="http://schemas.openxmlformats.org/officeDocument/2006/relationships/notesMaster" Target="/ppt/notesMasters/notesMaster1.xml" Id="Rdb8f06d57f4f47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9085a3875d49af" /><Relationship Type="http://schemas.openxmlformats.org/officeDocument/2006/relationships/notesMaster" Target="/ppt/notesMasters/notesMaster1.xml" Id="R072bf4e73cbe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cedae084224c8c" /><Relationship Type="http://schemas.openxmlformats.org/officeDocument/2006/relationships/notesMaster" Target="/ppt/notesMasters/notesMaster1.xml" Id="Raccac6f621bc42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5774309ad54658" /><Relationship Type="http://schemas.openxmlformats.org/officeDocument/2006/relationships/notesMaster" Target="/ppt/notesMasters/notesMaster1.xml" Id="R8b50238f9c5f49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2d7d4bb4bf4e75" /><Relationship Type="http://schemas.openxmlformats.org/officeDocument/2006/relationships/notesMaster" Target="/ppt/notesMasters/notesMaster1.xml" Id="R83f10d1f7a22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title page and project details.</a:t>
            </a:r>
          </a:p>
          <a:p xmlns:a="http://schemas.openxmlformats.org/drawingml/2006/main">
            <a:r>
              <a:t>- Uploaded BCA presentation template, reused without changing the required cover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front matter.</a:t>
            </a:r>
          </a:p>
          <a:p xmlns:a="http://schemas.openxmlformats.org/drawingml/2006/main">
            <a:r>
              <a:t>- Proposal and interim report student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abstract and introduction.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problem definition.</a:t>
            </a:r>
          </a:p>
          <a:p xmlns:a="http://schemas.openxmlformats.org/drawingml/2006/main">
            <a:r>
              <a:t>- Playtest issues recorded during development: objective neglect, clumping, stalls, target lock, and weak mode awareness.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objectives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scope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literature review.</a:t>
            </a:r>
          </a:p>
          <a:p xmlns:a="http://schemas.openxmlformats.org/drawingml/2006/main">
            <a:r>
              <a:t>- Project report references to game AI, A* pathfinding, utility AI, blackboard systems, and Unity ScriptableObjects.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proposed system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system design.</a:t>
            </a:r>
          </a:p>
          <a:p xmlns:a="http://schemas.openxmlformats.org/drawingml/2006/main">
            <a:r>
              <a:t>- Local AI modules: perception, target scoring, utility scoring, commitment, team blackboard, tactical movement, and validation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methodology and algorithms section.</a:t>
            </a:r>
          </a:p>
          <a:p xmlns:a="http://schemas.openxmlformats.org/drawingml/2006/main">
            <a:r>
              <a:t>- Algorithms and concepts: utility scoring, A* pathfinding, spatial queries, blackboard coordination, and ScriptableObject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Unity C# implementation files.</a:t>
            </a:r>
          </a:p>
          <a:p xmlns:a="http://schemas.openxmlformats.org/drawingml/2006/main">
            <a:r>
              <a:t>- User-provided brawler select screenshot from playtesting.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Gem Grab gameplay screenshot.</a:t>
            </a:r>
          </a:p>
          <a:p xmlns:a="http://schemas.openxmlformats.org/drawingml/2006/main">
            <a:r>
              <a:t>- User-provided match results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scene/debug screenshots from playtesting.</a:t>
            </a:r>
          </a:p>
          <a:p xmlns:a="http://schemas.openxmlformats.org/drawingml/2006/main">
            <a:r>
              <a:t>- Major project final report testing and validation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conclusion and future work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Major project final report references.</a:t>
            </a:r>
          </a:p>
          <a:p xmlns:a="http://schemas.openxmlformats.org/drawingml/2006/main">
            <a:r>
              <a:t>- Local project source code and submitted report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Uploaded BCA presentation template closing slide reused with project closing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03359ffc44a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95741e46d46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bfbb2908b4c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cac74140246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61b5cfb6941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43a200c5941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17f6febc742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f6d17e44c4a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270ac8bbc45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acf3fdbeb48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95e07b32946c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1886FF-50EF-26D1-014C-A4FF810387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E6BD5D-0562-8BD1-A1D4-25B42A60A6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608C7E-621D-2F04-B447-78F1923E86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9BD8C2-863F-4EB6-AE52-E3B5A3659E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A19150-7D27-C4B3-F0A3-258DC5BDC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9ED1D8-0802-E8DF-416E-84009B6FB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AA8CC9-A71A-4222-20FF-4064D05E0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C26222-DB58-8AFB-21C1-FFB421D8B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471D06-3CBF-55D5-8C66-37A4314C26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08A28C-E968-C293-27C4-BBBCC4106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131274-40E9-D07C-BB25-571C3BEFE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1CEC77-F569-66EA-BB1F-8E2C312AAE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0AF4EC-E500-4BB7-7EF6-EC8E56AF5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74E818-726B-AF16-991A-AC92EC251A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88B668-0E60-3B95-6B55-09106B98A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C40B08-9D0A-2463-A72A-FD6895413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235F49-6698-F304-990D-04083CDE90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8D5BFF-10BB-6CE3-3464-9CEA9FECC1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63B4E1-2C12-9746-714D-27964FFD87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5C2D65C-506A-326D-2D0B-24AC69C347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B695DD-6688-6E05-46E0-EF0DB94B43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B5ABFF-85EE-5A81-0E02-4917AE36D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BC0E26-FA6F-DE25-FB0E-1FA9443E5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7D72099-6E55-F0E3-B2C9-89F95A4D8E5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33177BA-7787-0CB4-447E-F61ECD0B455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EB96AD6-5967-FEBA-7484-50654B48F2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A792607-D84A-8E54-B756-5CD39BE8EE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5A66BA-148C-348B-77BC-72B1E49068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81FAECB-ED4B-0A25-3D8D-AADB56ECB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44B66C-82D1-9F3A-64B5-D8E94F049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9588224-5655-1B9B-0928-167EBDACAF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36CE72F-683D-660F-0514-FDF3CAA0AB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BE9DB28-F3D9-D51F-60D7-2E1A2293B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6137314-12E0-6E29-5F16-428C50A75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5BA3495-45A3-BF5E-CE36-42EAE62353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9B6C081-2B86-4E00-3E7C-6B19B56FE2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CDBBBF-0DCB-B95E-FEA2-45408AC2C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1191C6-9E4D-77BB-8581-2B903C31CB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7A0F94-B667-4946-4DA9-EB733EB84A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88FAF2-7C87-70B2-0DB6-C3CBC68B4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6D199B2-D637-D9E3-5700-DCFA586A02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EE8D78-012E-33A5-5E6F-52EC63367C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E1DF9C-0AF4-4734-BE32-818E83C4F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44AF9A-3609-8798-4BA7-52C52A55D15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096A7C2-6EB2-3F47-69CB-5A97600DDF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730E87-C34C-36A8-C00F-72BA0E3BB5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0B8233-CEFE-5AF6-7BE1-68A868EC73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81CAD8-680A-B793-E09D-0606B1E007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537C2C-4E32-A630-F3FA-5D07900A2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190121-2DDA-A67A-129B-E161805CC6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BE6F59-B350-6B0F-1CAE-0E63319326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5F1655-5FB1-FDB8-3034-344B930B59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BCD497-1238-08E8-EC44-888749ACAA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75EDB17-90A7-FCF8-207C-A4E8EE2DE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E39CE3-8B91-6434-D40F-FAB8275756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50EB73-DA96-48FA-95C7-7769410F7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3CA585-E546-A2E1-E6A8-D0BCAAA9F2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255E46-F98F-2AEB-B7A9-48F958ECBD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ea5d0137f4161" /><Relationship Type="http://schemas.openxmlformats.org/officeDocument/2006/relationships/slideLayout" Target="/ppt/slideLayouts/slideLayout1.xml" Id="Rd7669b15072244ac" /><Relationship Type="http://schemas.openxmlformats.org/officeDocument/2006/relationships/slideLayout" Target="/ppt/slideLayouts/slideLayout2.xml" Id="Rd873565601d74d74" /><Relationship Type="http://schemas.openxmlformats.org/officeDocument/2006/relationships/slideLayout" Target="/ppt/slideLayouts/slideLayout3.xml" Id="R0c225ebc8f2341f4" /><Relationship Type="http://schemas.openxmlformats.org/officeDocument/2006/relationships/slideLayout" Target="/ppt/slideLayouts/slideLayout4.xml" Id="R5b2b0697cb834ff0" /><Relationship Type="http://schemas.openxmlformats.org/officeDocument/2006/relationships/slideLayout" Target="/ppt/slideLayouts/slideLayout5.xml" Id="R1684e4f8656b46f3" /><Relationship Type="http://schemas.openxmlformats.org/officeDocument/2006/relationships/slideLayout" Target="/ppt/slideLayouts/slideLayout6.xml" Id="R655e4f7a60514368" /><Relationship Type="http://schemas.openxmlformats.org/officeDocument/2006/relationships/slideLayout" Target="/ppt/slideLayouts/slideLayout7.xml" Id="R4575fc22ff3e49c5" /><Relationship Type="http://schemas.openxmlformats.org/officeDocument/2006/relationships/slideLayout" Target="/ppt/slideLayouts/slideLayout8.xml" Id="R8a685c3bdad84bb5" /><Relationship Type="http://schemas.openxmlformats.org/officeDocument/2006/relationships/slideLayout" Target="/ppt/slideLayouts/slideLayout9.xml" Id="R1d6c950e4fe04bd2" /><Relationship Type="http://schemas.openxmlformats.org/officeDocument/2006/relationships/slideLayout" Target="/ppt/slideLayouts/slideLayout10.xml" Id="R9bfaf04d56614247" /><Relationship Type="http://schemas.openxmlformats.org/officeDocument/2006/relationships/slideLayout" Target="/ppt/slideLayouts/slideLayout11.xml" Id="R373c5bc08ef740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2F18E8F-0656-964F-DEE6-366D32B6C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EA5C2B-B92F-E96E-E147-AE8D0E7ED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85C2D6-66EF-7C0E-3506-CFD8E2CDEF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1BAF6ED-130D-4DB0-9E02-0EA0EDAFEE5C}" type="datetimeFigureOut">
              <a:t>02-07-2026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8090E8-4753-464E-51E3-02EB0323BCD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6AD4EB-9D29-D693-27C7-AF481AB643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7E3DC6C-3630-41E1-8888-AA5151DC747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669b15072244ac"/>
    <p:sldLayoutId xmlns:r="http://schemas.openxmlformats.org/officeDocument/2006/relationships" id="2147483650" r:id="Rd873565601d74d74"/>
    <p:sldLayoutId xmlns:r="http://schemas.openxmlformats.org/officeDocument/2006/relationships" id="2147483651" r:id="R0c225ebc8f2341f4"/>
    <p:sldLayoutId xmlns:r="http://schemas.openxmlformats.org/officeDocument/2006/relationships" id="2147483652" r:id="R5b2b0697cb834ff0"/>
    <p:sldLayoutId xmlns:r="http://schemas.openxmlformats.org/officeDocument/2006/relationships" id="2147483653" r:id="R1684e4f8656b46f3"/>
    <p:sldLayoutId xmlns:r="http://schemas.openxmlformats.org/officeDocument/2006/relationships" id="2147483654" r:id="R655e4f7a60514368"/>
    <p:sldLayoutId xmlns:r="http://schemas.openxmlformats.org/officeDocument/2006/relationships" id="2147483655" r:id="R4575fc22ff3e49c5"/>
    <p:sldLayoutId xmlns:r="http://schemas.openxmlformats.org/officeDocument/2006/relationships" id="2147483656" r:id="R8a685c3bdad84bb5"/>
    <p:sldLayoutId xmlns:r="http://schemas.openxmlformats.org/officeDocument/2006/relationships" id="2147483657" r:id="R1d6c950e4fe04bd2"/>
    <p:sldLayoutId xmlns:r="http://schemas.openxmlformats.org/officeDocument/2006/relationships" id="2147483658" r:id="R9bfaf04d56614247"/>
    <p:sldLayoutId xmlns:r="http://schemas.openxmlformats.org/officeDocument/2006/relationships" id="2147483659" r:id="R373c5bc08ef7409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847787caf4e82" /><Relationship Type="http://schemas.openxmlformats.org/officeDocument/2006/relationships/image" Target="/ppt/media/image.jpeg" Id="Raaf74926542c4757" /><Relationship Type="http://schemas.openxmlformats.org/officeDocument/2006/relationships/image" Target="/ppt/media/image.png" Id="Rd5faa55553464961" /><Relationship Type="http://schemas.openxmlformats.org/officeDocument/2006/relationships/notesSlide" Target="/ppt/notesSlides/notesSlide1.xml" Id="R376ee123745d49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14c6d83db4dbe" /><Relationship Type="http://schemas.openxmlformats.org/officeDocument/2006/relationships/image" Target="/ppt/media/image.png" Id="R65469f7f01f44f27" /><Relationship Type="http://schemas.openxmlformats.org/officeDocument/2006/relationships/notesSlide" Target="/ppt/notesSlides/notesSlide2.xml" Id="Rc933ad964d10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d14394480a4f83" /><Relationship Type="http://schemas.openxmlformats.org/officeDocument/2006/relationships/notesSlide" Target="/ppt/notesSlides/notesSlide3.xml" Id="Rbb3aa149cd9d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a200db289494a" /><Relationship Type="http://schemas.openxmlformats.org/officeDocument/2006/relationships/notesSlide" Target="/ppt/notesSlides/notesSlide4.xml" Id="Ra22a82d2621449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2e84b4a4d457c" /><Relationship Type="http://schemas.openxmlformats.org/officeDocument/2006/relationships/notesSlide" Target="/ppt/notesSlides/notesSlide5.xml" Id="R9968c937033f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d032ff06043e2" /><Relationship Type="http://schemas.openxmlformats.org/officeDocument/2006/relationships/notesSlide" Target="/ppt/notesSlides/notesSlide6.xml" Id="R4fa02651c0a0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50d5967574371" /><Relationship Type="http://schemas.openxmlformats.org/officeDocument/2006/relationships/notesSlide" Target="/ppt/notesSlides/notesSlide7.xml" Id="Ra58456cd0466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c81a0ba67488d" /><Relationship Type="http://schemas.openxmlformats.org/officeDocument/2006/relationships/notesSlide" Target="/ppt/notesSlides/notesSlide8.xml" Id="R6ec81f45a2ae41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63595dfef470b" /><Relationship Type="http://schemas.openxmlformats.org/officeDocument/2006/relationships/notesSlide" Target="/ppt/notesSlides/notesSlide9.xml" Id="R9d8c65a961af4d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e69d3617e457d" /><Relationship Type="http://schemas.openxmlformats.org/officeDocument/2006/relationships/notesSlide" Target="/ppt/notesSlides/notesSlide10.xml" Id="R606e7a72eba346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465ada7d14600" /><Relationship Type="http://schemas.openxmlformats.org/officeDocument/2006/relationships/image" Target="/ppt/media/image2.png" Id="R2a24f63829b64377" /><Relationship Type="http://schemas.openxmlformats.org/officeDocument/2006/relationships/notesSlide" Target="/ppt/notesSlides/notesSlide11.xml" Id="R182e7d19271149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f6454dd18941a1" /><Relationship Type="http://schemas.openxmlformats.org/officeDocument/2006/relationships/image" Target="/ppt/media/image3.png" Id="R33b48821ca284cb8" /><Relationship Type="http://schemas.openxmlformats.org/officeDocument/2006/relationships/image" Target="/ppt/media/image4.png" Id="R6b41750545dc4d8b" /><Relationship Type="http://schemas.openxmlformats.org/officeDocument/2006/relationships/notesSlide" Target="/ppt/notesSlides/notesSlide12.xml" Id="Rc4c386c36ded43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8591ab86a42d5" /><Relationship Type="http://schemas.openxmlformats.org/officeDocument/2006/relationships/image" Target="/ppt/media/image5.png" Id="R24b8218925134223" /><Relationship Type="http://schemas.openxmlformats.org/officeDocument/2006/relationships/image" Target="/ppt/media/image6.png" Id="Re7c146a5fd5547c9" /><Relationship Type="http://schemas.openxmlformats.org/officeDocument/2006/relationships/notesSlide" Target="/ppt/notesSlides/notesSlide13.xml" Id="R1fab0ce5695f40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b6ee6bfde438d" /><Relationship Type="http://schemas.openxmlformats.org/officeDocument/2006/relationships/notesSlide" Target="/ppt/notesSlides/notesSlide14.xml" Id="R4eb1fa6b23344c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4277da8804b57" /><Relationship Type="http://schemas.openxmlformats.org/officeDocument/2006/relationships/notesSlide" Target="/ppt/notesSlides/notesSlide15.xml" Id="Rc6c0f3b3a53647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91f6667a84dfd" /><Relationship Type="http://schemas.openxmlformats.org/officeDocument/2006/relationships/notesSlide" Target="/ppt/notesSlides/notesSlide16.xml" Id="R2efd2f2990d245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7FDD7B-DAC0-06EE-C365-1C060DC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32" y="4767386"/>
            <a:ext cx="6190936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i="0" u="none" cap="none">
                <a:ln>
                  <a:noFill/>
                </a:ln>
                <a:solidFill>
                  <a:srgbClr val="BA2055"/>
                </a:solidFill>
                <a:latin typeface="Montserrat Bold"/>
                <a:ea typeface="Montserrat Bold"/>
                <a:cs typeface="Montserrat Bold"/>
              </a:rPr>
              <a:t/>
            </a: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74926542c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aa5555346496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4094" y="754421"/>
            <a:ext cx="3602743" cy="61108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B5A7726-FFA3-9B78-F6C3-C349504A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11" y="2218925"/>
            <a:ext cx="9478100" cy="32726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lnSpc>
                <a:spcPts val="4000"/>
              </a:lnSpc>
              <a:buNone/>
            </a:pPr>
            <a:r>
              <a:rPr sz="4000" b="1">
                <a:solidFill>
                  <a:srgbClr val="BA2055"/>
                </a:solidFill>
                <a:latin typeface="Montserrat"/>
                <a:ea typeface="Montserrat"/>
                <a:cs typeface="Montserrat"/>
              </a:rPr>
              <a:t>21CSA699A - Major Project</a:t>
            </a:r>
          </a:p>
          <a:p xmlns:a="http://schemas.openxmlformats.org/drawingml/2006/main">
            <a:pPr lvl="0">
              <a:lnSpc>
                <a:spcPts val="4000"/>
              </a:lnSpc>
              <a:buNone/>
            </a:pPr>
            <a:r>
              <a:t/>
            </a:r>
          </a:p>
          <a:p xmlns:a="http://schemas.openxmlformats.org/drawingml/2006/main">
            <a:pPr lvl="0">
              <a:lnSpc>
                <a:spcPts val="4000"/>
              </a:lnSpc>
              <a:buNone/>
            </a:pPr>
            <a:r>
              <a:t>DATE :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92216-0F78-49DB-BC89-90F7F73B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0384F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0384F"/>
                </a:solidFill>
                <a:latin typeface="Calibri"/>
                <a:ea typeface="Calibri"/>
                <a:cs typeface="Calibri"/>
              </a:rPr>
              <a:t>Advanced Game AI System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20384F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0384F"/>
                </a:solidFill>
                <a:latin typeface="Calibri"/>
                <a:ea typeface="Calibri"/>
                <a:cs typeface="Calibri"/>
              </a:rPr>
              <a:t>using Blackboard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00BF4-737B-4F89-AB90-985EF5F4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Akash Dhyani | AA.SC.U3BCA2307092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Project Guide: Deepa Sreedhar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Project Coordinator: Amrita Sindhu</a:t>
            </a:r>
          </a:p>
        </p:txBody>
      </p:sp>
    </p:spTree>
    <p:extLst>
      <p:ext uri="{BB962C8B-B14F-4D97-AF65-F5344CB8AC3E}">
        <p14:creationId xmlns:p14="http://schemas.microsoft.com/office/powerpoint/2010/main" val="33118370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0EC285-9A8C-31C9-ECE7-DB47B5C915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9752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Project Title: Advanced Game AI System Using Blackboard Architecture in Unity Engine</a:t>
            </a:r>
          </a:p>
          <a:p xmlns:a="http://schemas.openxmlformats.org/drawingml/2006/main">
            <a:r>
              <a:t>Student Name: Akash Dhyani</a:t>
            </a:r>
          </a:p>
          <a:p xmlns:a="http://schemas.openxmlformats.org/drawingml/2006/main">
            <a:r>
              <a:t>Register Number: AA.SC.U3BCA2307092</a:t>
            </a:r>
          </a:p>
          <a:p xmlns:a="http://schemas.openxmlformats.org/drawingml/2006/main">
            <a:r>
              <a:t>Program: Bachelors of Computer Applications</a:t>
            </a:r>
          </a:p>
          <a:p xmlns:a="http://schemas.openxmlformats.org/drawingml/2006/main">
            <a:r>
              <a:t>Semester: Final Year</a:t>
            </a:r>
          </a:p>
          <a:p xmlns:a="http://schemas.openxmlformats.org/drawingml/2006/main">
            <a:r>
              <a:t>Department &amp; Institution: Amrita Online CS</a:t>
            </a:r>
          </a:p>
          <a:p xmlns:a="http://schemas.openxmlformats.org/drawingml/2006/main">
            <a:r>
              <a:t>Project Guide: Deepa Sreedhar</a:t>
            </a:r>
          </a:p>
          <a:p xmlns:a="http://schemas.openxmlformats.org/drawingml/2006/main">
            <a:pPr marL="0" indent="0">
              <a:buNone/>
            </a:pPr>
            <a:r>
              <a:t>Project Coordinator: Amrita Sindhu</a:t>
            </a:r>
          </a:p>
        </p:txBody>
      </p:sp>
      <p:pic>
        <p:nvPicPr>
          <p:cNvPr id="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69f7f01f44f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4094" y="754421"/>
            <a:ext cx="3602743" cy="6110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907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9A2287-788A-BFB8-9118-3B8580B7E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2D465B"/>
                </a:solidFill>
              </a:rPr>
              <a:t>Introduction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6D93AB-81A6-E81B-C195-FC83E874AC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Unity MOBA / brawler prototype focused on AI architecture.</a:t>
            </a:r>
          </a:p>
          <a:p xmlns:a="http://schemas.openxmlformats.org/drawingml/2006/main">
            <a:r>
              <a:t>Bots value objectives, team state, map safety, and brawler roles.</a:t>
            </a:r>
          </a:p>
          <a:p xmlns:a="http://schemas.openxmlformats.org/drawingml/2006/main">
            <a:r>
              <a:t>Core approach: utility scoring, blackboard sharing, tactical movement, and tuning data.</a:t>
            </a:r>
          </a:p>
        </p:txBody>
      </p:sp>
    </p:spTree>
    <p:extLst>
      <p:ext uri="{BB962C8B-B14F-4D97-AF65-F5344CB8AC3E}">
        <p14:creationId xmlns:p14="http://schemas.microsoft.com/office/powerpoint/2010/main" val="21709247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1E6DF9-8986-8DE2-CDE7-2AE8D4027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Problem Statement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41A09E-DD05-F764-1A1B-483363CDD6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11784"/>
            <a:ext cx="5213415" cy="25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ct val="0"/>
              </a:spcAft>
              <a:buNone/>
            </a:pPr>
            <a:r>
              <a:t>Problem: basic combat bots could fight,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but ignored objectives, team pressure,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map safety, and brawler identity.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Required: a scalable AI system that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is objective-aware and explainable.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9AFB6-D0AA-4C6B-B9BB-71EC8D0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8323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C83232"/>
                </a:solidFill>
                <a:latin typeface="Calibri"/>
                <a:ea typeface="Calibri"/>
                <a:cs typeface="Calibri"/>
              </a:rPr>
              <a:t>Typical quick 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443E6-DA2A-4C2B-8B7E-1071EAB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6824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6824A"/>
                </a:solidFill>
                <a:latin typeface="Calibri"/>
                <a:ea typeface="Calibri"/>
                <a:cs typeface="Calibri"/>
              </a:rPr>
              <a:t>MOBA Core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F559E-1EBA-4D03-A852-B696629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914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83232"/>
          </a:solidFill>
          <a:ln xmlns:a="http://schemas.openxmlformats.org/drawingml/2006/main" w="9525">
            <a:solidFill>
              <a:srgbClr val="C832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5FDCF-E7DA-4E20-9A1C-B3D5D66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Nearest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5ADCD-6D23-4534-BBE7-8DEE619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D27C6-6D48-49CC-AC27-A353FD7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05350"/>
            <a:ext cx="914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83232"/>
          </a:solidFill>
          <a:ln xmlns:a="http://schemas.openxmlformats.org/drawingml/2006/main" w="9525">
            <a:solidFill>
              <a:srgbClr val="C832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C1247-D590-4A0A-AFDE-369B0CB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006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Direct chase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1AFEE-CA81-431D-BFD2-3A999F6C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D1997-3B6B-4C29-BBFB-345DDA9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05350"/>
            <a:ext cx="914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83232"/>
          </a:solidFill>
          <a:ln xmlns:a="http://schemas.openxmlformats.org/drawingml/2006/main" w="9525">
            <a:solidFill>
              <a:srgbClr val="C832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C0B7A-6DC9-4669-9A34-71132F9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006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Shoot cooldown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90798-9EF4-41EF-A307-DCB7827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270E3-256B-421A-905E-C1D1A1F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05350"/>
            <a:ext cx="914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83232"/>
          </a:solidFill>
          <a:ln xmlns:a="http://schemas.openxmlformats.org/drawingml/2006/main" w="9525">
            <a:solidFill>
              <a:srgbClr val="C832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FE2F7-0404-4CCA-A1EC-2FBF3981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006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Patch issue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1DCD9-230A-473C-832C-B964163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05350"/>
            <a:ext cx="9906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846FF-FA4E-4F4C-9A8C-084A30C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006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Sense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2AF51-7A21-4A23-861E-EC179CAB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B7D7F-E9B1-4C0F-B0D5-E28448C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9906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1F757-D4F8-4B4F-AD25-7240F9B9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 options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E56A0-A51B-4BB4-9ABA-3F9DD887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EF87A-B13F-48C1-88DF-58E3EF5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906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B2C79-3702-47C0-BC00-2C0FBA9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 safely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42EBB-D8EB-49F7-8364-D0EF606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829175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41848-676B-45F1-931E-1988C82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05350"/>
            <a:ext cx="9906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73E59-7835-4912-A6EB-A26A3F84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006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 evidence</a:t>
            </a:r>
          </a:p>
        </p:txBody>
      </p:sp>
    </p:spTree>
    <p:extLst>
      <p:ext uri="{BB962C8B-B14F-4D97-AF65-F5344CB8AC3E}">
        <p14:creationId xmlns:p14="http://schemas.microsoft.com/office/powerpoint/2010/main" val="16487950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BBA5CA-BF0D-C35C-BFC5-E40DF86A9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Objectives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994FAF-1324-90A1-F1EF-4D4FA562B3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73744" y="1939061"/>
            <a:ext cx="7180940" cy="303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228600" lvl="8">
              <a:spcBef>
                <a:spcPts val="1000"/>
              </a:spcBef>
              <a:spcAft>
                <a:spcPct val="0"/>
              </a:spcAft>
              <a:buNone/>
            </a:pPr>
            <a:r>
              <a:rPr sz="2800"/>
              <a:t>1. Build utility-based decisions.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2. Coordinate teams through blackboard data.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3. Prioritize active game-mode objectives.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4. Navigate safely around map obstacles.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5. Add brawler-specific tactical roles.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6. Expose debug and validation tooling.</a:t>
            </a:r>
          </a:p>
        </p:txBody>
      </p:sp>
    </p:spTree>
    <p:extLst>
      <p:ext uri="{BB962C8B-B14F-4D97-AF65-F5344CB8AC3E}">
        <p14:creationId xmlns:p14="http://schemas.microsoft.com/office/powerpoint/2010/main" val="7307962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C90787-0DCB-8360-9D58-70095DE15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Scope of the Project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CDF972-1A64-2CF0-0270-D243F64BED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75851" y="1690443"/>
            <a:ext cx="4942700" cy="3541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Included: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- AI decisions, team coordination, mode strategy.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- Tactical movement, navigation, and recovery.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- Brawler role intelligence and debug visibility.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Not included: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- Online multiplayer, monetization, commercial art,</a:t>
            </a:r>
          </a:p>
          <a:p xmlns:a="http://schemas.openxmlformats.org/drawingml/2006/main">
            <a:pPr marR="0" lvl="0">
              <a:spcAft>
                <a:spcPct val="0"/>
              </a:spcAft>
              <a:buClrTx/>
              <a:buSzTx/>
              <a:buNone/>
            </a:pPr>
            <a:r>
              <a:t>  and full ML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B7362-C4D7-4FF1-A680-B3376A80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572125"/>
            <a:ext cx="1143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5884-2C2E-4817-979F-013DA38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629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Utility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20108-29A7-4552-9109-FC5F59B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72125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3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CAE31-FA5A-4D8C-8DBC-01092E1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292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5F359-B512-4E4F-8B80-4FF1A81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572125"/>
            <a:ext cx="1047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62C34-3832-4905-B419-E8B067B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6292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A*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EC3E2-91CF-4147-B4EB-A7576AA8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000750"/>
            <a:ext cx="1143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B5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011FC-8967-4130-9DB0-0350E88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0579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E6716-F85B-40E9-8D0B-704BA956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1238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8D8C5-FEED-48D5-82BA-B40D5BF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579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Brawler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1C08-C073-41EA-92A1-7177021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00750"/>
            <a:ext cx="1047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A3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DCB1A-3FE4-46B1-B00F-8A0B494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0579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34925308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A2C323-31CB-3F0A-8E22-D3BF52C51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Review / Existing System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2865FB-3B6E-8F6F-7C4B-FE83EA2965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19981" y="1663326"/>
            <a:ext cx="5914376" cy="303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ct val="0"/>
              </a:spcAft>
              <a:buNone/>
            </a:pPr>
            <a:r>
              <a:t>Related ideas: FSMs, behavior trees,</a:t>
            </a:r>
          </a:p>
          <a:p xmlns:a="http://schemas.openxmlformats.org/drawingml/2006/main">
            <a:pPr>
              <a:spcAft>
                <a:spcPct val="0"/>
              </a:spcAft>
              <a:buNone/>
            </a:pPr>
            <a:r>
              <a:t>utility AI, blackboards, and A* pathfinding.</a:t>
            </a:r>
          </a:p>
          <a:p xmlns:a="http://schemas.openxmlformats.org/drawingml/2006/main">
            <a:pPr>
              <a:spcAft>
                <a:spcPct val="0"/>
              </a:spcAft>
              <a:buNone/>
            </a:pPr>
            <a:r>
              <a:t>Selected approach: utility AI + blackboard</a:t>
            </a:r>
          </a:p>
          <a:p xmlns:a="http://schemas.openxmlformats.org/drawingml/2006/main">
            <a:pPr>
              <a:spcAft>
                <a:spcPct val="0"/>
              </a:spcAft>
              <a:buNone/>
            </a:pPr>
            <a:r>
              <a:t>for flexible, inspectable decisions.</a:t>
            </a:r>
          </a:p>
          <a:p xmlns:a="http://schemas.openxmlformats.org/drawingml/2006/main">
            <a:pPr>
              <a:spcAft>
                <a:spcPct val="0"/>
              </a:spcAft>
              <a:buNone/>
            </a:pPr>
            <a:r>
              <a:t>Gap: scripted bots fail when objectives,</a:t>
            </a:r>
          </a:p>
          <a:p xmlns:a="http://schemas.openxmlformats.org/drawingml/2006/main">
            <a:pPr>
              <a:spcAft>
                <a:spcPct val="0"/>
              </a:spcAft>
              <a:buNone/>
            </a:pPr>
            <a:r>
              <a:t>roles, hazards, and team strategy interact.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FBB39-10FD-410D-92C7-B2564D8E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752F-7C49-4071-8F62-43BA62E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6373-9229-4D8D-A91A-106BB44F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3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01855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C01855"/>
                </a:solidFill>
                <a:latin typeface="Calibri"/>
                <a:ea typeface="Calibri"/>
                <a:cs typeface="Calibri"/>
              </a:rPr>
              <a:t>Selected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858C-5F77-45AD-8BAE-EC51E92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Authored, inspectable game AI now; optional ML experiments later.</a:t>
            </a:r>
          </a:p>
        </p:txBody>
      </p:sp>
    </p:spTree>
    <p:extLst>
      <p:ext uri="{BB962C8B-B14F-4D97-AF65-F5344CB8AC3E}">
        <p14:creationId xmlns:p14="http://schemas.microsoft.com/office/powerpoint/2010/main" val="5524070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2CB80E-F60A-9326-6528-277648B27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System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24EED9-8B6B-7CAC-9011-17B1859177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6187" y="1764266"/>
            <a:ext cx="8561703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t>Layered AI stack with one clear responsibility per layer.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t>New brawlers, maps, modes, and difficulty profiles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t>plug into the same decision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0D11-0E5D-4414-8714-5E76478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9525">
            <a:solidFill>
              <a:srgbClr val="C018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0D949-9300-44CD-809D-A6824C67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9510D-432E-4D44-AFF1-FCE4D22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6A36BF"/>
          </a:solidFill>
          <a:ln xmlns:a="http://schemas.openxmlformats.org/drawingml/2006/main" w="9525">
            <a:solidFill>
              <a:srgbClr val="6A36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78C72-A8AE-4A29-9AC3-562DA94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CB7F3-E7CA-4364-A61A-7A64A5BC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0384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E4016-96C7-41C4-8701-36A095F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3ED71-17BF-4543-94BD-8058E111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6CF14-1493-4F1C-A5B3-96CF6454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A9073-20B5-4BCE-8B22-8E30A8CE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B5FAA"/>
          </a:solidFill>
          <a:ln xmlns:a="http://schemas.openxmlformats.org/drawingml/2006/main" w="9525">
            <a:solidFill>
              <a:srgbClr val="2B5F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D4A1E-CC0B-455E-9652-A0D4C5AC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052E6-5787-4E08-8CF8-084C8D08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71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94595-1FB2-43B7-B4E7-1C160DD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C97EC-9063-44EC-B1ED-B54A4D2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3086F-10C4-45D5-AA00-8C0FA6F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81801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334110-8443-B520-620A-F3C4829EB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21F7E1-6253-32B1-7271-AC459A477F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25013" y="1715105"/>
            <a:ext cx="6758773" cy="95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t>High-level AI data flow and support layers: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61892-D8C5-4C4F-94CB-8943013D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8FB3"/>
          </a:solidFill>
          <a:ln xmlns:a="http://schemas.openxmlformats.org/drawingml/2006/main" w="9525">
            <a:solidFill>
              <a:srgbClr val="0F8F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86D67-2CC5-4A1C-B0DB-DF08DCB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Perception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A96EB-6AFE-4E9C-AFE8-F0FBC49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A51C"/>
          </a:solidFill>
          <a:ln xmlns:a="http://schemas.openxmlformats.org/drawingml/2006/main" w="9525">
            <a:solidFill>
              <a:srgbClr val="F4A5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5D4D0-5ACF-4817-A4CA-D4B3CB3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FE62F-AD89-4FB3-AAB1-368025BB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6824A"/>
          </a:solidFill>
          <a:ln xmlns:a="http://schemas.openxmlformats.org/drawingml/2006/main" w="9525">
            <a:solidFill>
              <a:srgbClr val="168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33665-67B6-4D1D-B351-F7EE4951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Utility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90D9D-299F-428E-B518-9E32242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6A36BF"/>
          </a:solidFill>
          <a:ln xmlns:a="http://schemas.openxmlformats.org/drawingml/2006/main" w="9525">
            <a:solidFill>
              <a:srgbClr val="6A36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587D1-CBD6-4BD2-92DD-41DDF5A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Commitment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Hysteresis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49463-0951-4F35-A38F-7BBC0A1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5FAA"/>
          </a:solidFill>
          <a:ln xmlns:a="http://schemas.openxmlformats.org/drawingml/2006/main" w="9525">
            <a:solidFill>
              <a:srgbClr val="2B5F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0F347-3ACC-4CE2-B1CC-B3836D7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Tactical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F975B-A7B0-47D8-A459-75D8B97D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11239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9525">
            <a:solidFill>
              <a:srgbClr val="C018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BAC6D-F791-46E1-8976-8A43705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2887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6B58B-8B2C-4EC7-B536-DB4A3786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867AE-1EA3-46B2-9C47-3DEB47F4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43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0DC2C-39DD-47FF-AD74-95CA075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43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E5C7C-56E9-49E0-96C5-B743E93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ED368-6E7D-4D36-A086-827C813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98CBF-5262-46CC-97C2-E6815CC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255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1E577-0ADB-48A1-BF98-5922E12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89598-F820-4DFB-B8D8-3EF53C36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01855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C01855"/>
                </a:solidFill>
                <a:latin typeface="Calibri"/>
                <a:ea typeface="Calibri"/>
                <a:cs typeface="Calibri"/>
              </a:rPr>
              <a:t>Team blackboard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E034C-496F-4B8B-B4AE-1531C81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Focus counts, ally pressure, carrier protection, lanes, threats.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C0824-8A63-4FF3-9C0D-A588359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55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FD153-A459-4AF1-B929-A5D8D76C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EB6E7-2188-495E-A46A-A87225BF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433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6824A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6824A"/>
                </a:solidFill>
                <a:latin typeface="Calibri"/>
                <a:ea typeface="Calibri"/>
                <a:cs typeface="Calibri"/>
              </a:rPr>
              <a:t>Mode macro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10E48-AA53-4CEE-BBCF-03101BF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2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Gem Grab, Knockout, Brawl Ball, Solo Showdown priorities.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36ECC-F806-4A99-B793-3D4722DB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5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15A7F-ACCF-439E-B127-3D24C5B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F29F4-0615-4994-8B8C-5965A0C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B5FAA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B5FAA"/>
                </a:solidFill>
                <a:latin typeface="Calibri"/>
                <a:ea typeface="Calibri"/>
                <a:cs typeface="Calibri"/>
              </a:rPr>
              <a:t>Validation telemetry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46E2D5-6205-411C-963A-A2A9CFAA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Scores, intent, path state, stuck data, and incident logging.</a:t>
            </a:r>
          </a:p>
        </p:txBody>
      </p:sp>
    </p:spTree>
    <p:extLst>
      <p:ext uri="{BB962C8B-B14F-4D97-AF65-F5344CB8AC3E}">
        <p14:creationId xmlns:p14="http://schemas.microsoft.com/office/powerpoint/2010/main" val="24358462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253143-E5A0-C692-2071-8CB109D41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Methodology / Algorithms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713E3B-DDF1-127A-7FB6-19D6920CF1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Development followed an iterative systems methodology: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t>1. Normalize action scores.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t>2. Add commitment to prevent flicker.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t>3. Coordinate teams with a blackboard.</a:t>
            </a:r>
          </a:p>
          <a:p xmlns:a="http://schemas.openxmlformats.org/drawingml/2006/main">
            <a:r>
              <a:t>4. Route safely and recover from stalls.</a:t>
            </a:r>
          </a:p>
          <a:p xmlns:a="http://schemas.openxmlformats.org/drawingml/2006/main">
            <a:r>
              <a:t>5. Validate decisions in Unity playtests.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3B381-2838-4F28-A8B6-2B2629D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819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9525">
            <a:solidFill>
              <a:srgbClr val="C018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F9196-F8AF-4636-9207-D9C5E80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53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60191-5B8E-4B74-BDB2-33F52F9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721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01FA9-BE18-4AD0-A3DE-19C5D6B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819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84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BE867-8EDD-4F06-B22C-E5D5D50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76F13-12A8-4ADE-842C-D934FF4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3721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14AFF-7B18-490C-81BE-256791F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57800"/>
            <a:ext cx="819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9525">
            <a:solidFill>
              <a:srgbClr val="C01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48F1D-67E1-4712-8234-E6F980AD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3B9A3-F514-4BD7-B56F-5A37BB7D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721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0085B-07EA-49CA-B715-8DBB7F8C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57800"/>
            <a:ext cx="819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84F"/>
          </a:solidFill>
          <a:ln xmlns:a="http://schemas.openxmlformats.org/drawingml/2006/main" w="9525">
            <a:solidFill>
              <a:srgbClr val="2038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F6B0-1B5F-429D-AE31-583FA0EF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FB40D-FAA2-4EAE-8648-EA13FE6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721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82A65-A569-496A-BF12-091A5AF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57800"/>
            <a:ext cx="819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01855"/>
          </a:solidFill>
          <a:ln xmlns:a="http://schemas.openxmlformats.org/drawingml/2006/main" w="9525">
            <a:solidFill>
              <a:srgbClr val="C018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D82E6-478E-4A26-9E4F-35F38A00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53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4783097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10A95-05EF-E3B9-D47B-4D7A2F902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Implementation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96BD0-7A95-49D9-ADDF-9BB1BE7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Implementation is split into focused modules: perception, scoring, commitment, blackboard, navigation, ability intelligence, mode strategy, debug reporting, and tuning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C474F-B8AE-473A-86BB-C9DA727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87CC-3E5D-47B5-9E37-4269963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962BE-C700-47EB-B0DE-6D383C5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8CE6B5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CE6B5"/>
                </a:solidFill>
                <a:latin typeface="Calibri"/>
                <a:ea typeface="Calibri"/>
                <a:cs typeface="Calibri"/>
              </a:rPr>
              <a:t>Objective priority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CF7CA-D689-4CA4-8732-F1F14A5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3752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(mode == BrawlBall &amp;&amp; ballIsLoose)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macro = Push;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reason = "loose_ball_claim";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 = Max(score, objectiveFloor);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D18D7-28A4-405B-871F-6657F112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47015-6E07-41D3-98DA-84C986F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C6734-32EF-44AB-852C-E2B60FA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8CE6B5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8CE6B5"/>
                </a:solidFill>
                <a:latin typeface="Calibri"/>
                <a:ea typeface="Calibri"/>
                <a:cs typeface="Calibri"/>
              </a:rPr>
              <a:t>Lifecycle recovery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10FF7-BDBC-4C48-8AAA-D6C7681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3752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OnBrawlerRespawned += HandleRespawn;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(isLocalPlayer)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camera.SetTarget(followTarget);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controls.Rebind(owner);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13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4f63829b64377"/>
          <a:srcRect xmlns:a="http://schemas.openxmlformats.org/drawingml/2006/main" l="9551" t="0" r="9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1571625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E52D3-36FB-4B71-B038-AE11A226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8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962322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CA22B5-DAD9-4F3C-2CB3-1BE85FFBE7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Results &amp; Output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59F14F-40C0-7C1E-F555-AA444C810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Sample playable outputs: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48821ca284cb8"/>
          <a:srcRect xmlns:a="http://schemas.openxmlformats.org/drawingml/2006/main" l="0" t="2654" r="0" b="2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00200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A2B9A-9AA6-45D8-9249-AB9AB59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84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1750545dc4d8b"/>
          <a:srcRect xmlns:a="http://schemas.openxmlformats.org/drawingml/2006/main" l="6422" t="0" r="64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600200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6BD23-F320-4E48-B69C-2165EB3D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E0916-8FB4-4641-8929-A39C4B54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78F0C-E7CE-4A4C-8E37-A8D9FA0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ABD6A-E4A2-4417-A4AE-EF2F588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Gem Grab now exposes countdown pressure, gem counts, objective area control, and tactical combat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ABD0-1175-4947-88A5-E0871CF4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D013D-0027-4E28-8B46-E10DCA1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88CD8-AE7D-463F-BADF-FF057F7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Match result UI records kills, damage, assists, gems, rating, winner, and star player for validation.</a:t>
            </a:r>
          </a:p>
        </p:txBody>
      </p:sp>
    </p:spTree>
    <p:extLst>
      <p:ext uri="{BB962C8B-B14F-4D97-AF65-F5344CB8AC3E}">
        <p14:creationId xmlns:p14="http://schemas.microsoft.com/office/powerpoint/2010/main" val="34699669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A080EE-5896-4830-6EE7-ED6C02C69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Testing &amp;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BA9D0-2BB4-4506-83E1-5DA29F8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Validation combines Unity playtests with live AI telemetry so each movement, target, route, and objective choice can be inspected.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8218925134223"/>
          <a:srcRect xmlns:a="http://schemas.openxmlformats.org/drawingml/2006/main" l="6825" t="0" r="6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95500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7EC5-3FBF-471B-9859-A274865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84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146a5fd5547c9"/>
          <a:srcRect xmlns:a="http://schemas.openxmlformats.org/drawingml/2006/main" l="1204" t="0" r="12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095500"/>
            <a:ext cx="514350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AA62E-3D61-429C-AC76-4DA2DBD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14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AB593-2DE5-40F1-8944-FDC92B0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387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8BD86-BCDE-462F-9301-E039379E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3875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308F9-8F37-4C0D-8689-E24DC36D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34000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Debug overlay: action, intent, role, tier, target, confidence, path length, stuck count, and map rays.</a:t>
            </a:r>
          </a:p>
        </p:txBody>
      </p:sp>
    </p:spTree>
    <p:extLst>
      <p:ext uri="{BB962C8B-B14F-4D97-AF65-F5344CB8AC3E}">
        <p14:creationId xmlns:p14="http://schemas.microsoft.com/office/powerpoint/2010/main" val="26534429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1C7E16-2757-A296-F309-9E78C21EC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Conclusion and Future enhancements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C9AE-45FE-47DC-AC16-C4E8FF6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B2291-2C97-4C2F-BF06-C8CAB86C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1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22601-DFBA-4252-BEEF-AEB970F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C01855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C01855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E8DC5-5782-44A0-8BC2-D70C3271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Layered, objective-aware AI for a Unity brawler prototype.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3ADE5-D9DE-41FC-A57A-C5ADFA0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526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57047-4518-42DC-ABCC-D543B0A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D8E97-B7B5-4DDA-B06D-9051C5B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6824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6824A"/>
                </a:solidFill>
                <a:latin typeface="Calibri"/>
                <a:ea typeface="Calibri"/>
                <a:cs typeface="Calibri"/>
              </a:rPr>
              <a:t>Achievements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BB3AC-9EC3-4741-B444-308E26D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Utility scoring, team blackboard, brawler roles, navigation recovery, and debug telemetry.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E03F0-5E2C-44ED-8344-5ADB4DF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12143-B0EC-4A4D-9D03-9458ED9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7EA3D-79B3-4813-814F-633648E4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B5FA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B5FAA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187DF-1C3F-49FF-A9AA-5FEF4DF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Automated gauntlets, richer semantic maps, more brawler packs, and optional ML experiments.</a:t>
            </a:r>
          </a:p>
        </p:txBody>
      </p:sp>
    </p:spTree>
    <p:extLst>
      <p:ext uri="{BB962C8B-B14F-4D97-AF65-F5344CB8AC3E}">
        <p14:creationId xmlns:p14="http://schemas.microsoft.com/office/powerpoint/2010/main" val="29623093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1544FE-3490-894C-BA34-BEE92A63C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6FB75-AE57-4683-A73C-DED4417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97155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Akash Dhyani, Advanced Game AI System using Blackboard Architecture in Unity Engine, proposal, interim report, and final report, 2026.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Ian Millington and John Funge, Artificial Intelligence for Games.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Georgios N. Yannakakis and Julian Togelius, Artificial Intelligence and Games.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Hart, Nilsson, and Raphael, A Formal Basis for the Heuristic Determination of Minimum Cost Paths, 1968.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Unity documentation: ScriptableObject workflow, gameplay architecture, and Unity AI / ML-Agents concepts.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6. Project source code: AI scoring, blackboard, navigation, mode strategy, brawler intelligence, and debug telemetry.</a:t>
            </a:r>
          </a:p>
        </p:txBody>
      </p:sp>
    </p:spTree>
    <p:extLst>
      <p:ext uri="{BB962C8B-B14F-4D97-AF65-F5344CB8AC3E}">
        <p14:creationId xmlns:p14="http://schemas.microsoft.com/office/powerpoint/2010/main" val="23529611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273;p45">
            <a:extLst xmlns:a="http://schemas.openxmlformats.org/drawingml/2006/main">
              <a:ext uri="{FF2B5EF4-FFF2-40B4-BE49-F238E27FC236}">
                <a16:creationId xmlns:a16="http://schemas.microsoft.com/office/drawing/2014/main" id="{F119F7B5-8996-74D0-D675-B3E830E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11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75;p45">
            <a:extLst xmlns:a="http://schemas.openxmlformats.org/drawingml/2006/main">
              <a:ext uri="{FF2B5EF4-FFF2-40B4-BE49-F238E27FC236}">
                <a16:creationId xmlns:a16="http://schemas.microsoft.com/office/drawing/2014/main" id="{288AC0D7-D3B1-C33A-F770-AD6D41F3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226" y="2437949"/>
            <a:ext cx="7843548" cy="195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6" name="Google Shape;256;p43">
            <a:extLst xmlns:a="http://schemas.openxmlformats.org/drawingml/2006/main">
              <a:ext uri="{FF2B5EF4-FFF2-40B4-BE49-F238E27FC236}">
                <a16:creationId xmlns:a16="http://schemas.microsoft.com/office/drawing/2014/main" id="{98AF74DC-B04C-13C6-06C9-9F38C08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00" y="4242087"/>
            <a:ext cx="2926200" cy="400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987481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2026-07-31T13:02:27.8540000Z</dcterms:created>
  <dcterms:modified xsi:type="dcterms:W3CDTF">2026-07-31T13:02:27.8540000Z</dcterms:modified>
</coreProperties>
</file>